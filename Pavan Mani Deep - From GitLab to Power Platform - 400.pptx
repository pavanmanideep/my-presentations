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314" r:id="rId3"/>
    <p:sldId id="315" r:id="rId4"/>
    <p:sldId id="316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326" r:id="rId14"/>
    <p:sldId id="327" r:id="rId15"/>
    <p:sldId id="328" r:id="rId16"/>
    <p:sldId id="329" r:id="rId17"/>
    <p:sldId id="330" r:id="rId18"/>
    <p:sldId id="331" r:id="rId19"/>
    <p:sldId id="332" r:id="rId20"/>
    <p:sldId id="333" r:id="rId21"/>
    <p:sldId id="280" r:id="rId22"/>
    <p:sldId id="25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774D23-1603-46C1-AB3A-7E8B7D25A799}" v="52" dt="2025-11-27T19:08:21.3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63" d="100"/>
          <a:sy n="63" d="100"/>
        </p:scale>
        <p:origin x="6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0B5FF6-1558-44F7-A07F-A72723B4F6B4}" type="datetimeFigureOut">
              <a:rPr lang="en-SG" smtClean="0"/>
              <a:t>27/11/2025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8056EC-9412-40FD-A9D0-9E5B9096D09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2278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74695-7835-8455-7E7E-25CE5BDA9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FA1944-43F3-1584-7FF1-B6BD2B22A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4F6B49-389C-B3CB-8476-C529F8D8C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2A8E5-C01F-23EE-0A3E-BDC2BC8B01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308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C494C-E523-CFB1-946A-E0157FEB2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3D369E-15F7-E6AA-EE2B-39327CE69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3C9330-7BDC-1E52-A90E-15E279576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382DA-FFFE-500C-F08F-CD6A448356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136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3B432-55D0-CD77-E889-E4100831D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DFCFCD-524E-3A63-85FD-498D8FAC23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7A4B44-8AC1-6D67-DE42-062E455DB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BC246-75DD-9C81-83F1-51A7E01B16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5364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07EBE-D7F9-5910-8B98-379A3893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3AE80-2BF6-8013-D614-F3A4C76E39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A00E0-F678-5C90-71E0-7D4EA8E72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EF13A-4EAD-D656-F223-CF912DB29F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9184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E0FBB-E8F9-426E-AC80-0D649B3C8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4CFA21-E449-40D5-9146-E3933F3E5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D221F-7C3B-4A71-AC9A-1ABD74FCA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1CD33-CCE9-404E-BA7F-152002072413}" type="datetimeFigureOut">
              <a:rPr lang="en-NZ" smtClean="0"/>
              <a:t>27/11/2025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8B6CF-226C-418D-B1E9-28FEA42C7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C74B9-1CED-4D56-8CC1-0E92FEF8D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B702C-EE3A-4FB7-AF0E-BC6F8A6AF00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87792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99EF-C1F4-4104-B4C4-A3560D02C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C0C9A-B586-4186-A0A4-86D01F9A2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11429-20BA-4E7E-BFDC-72713D973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1CD33-CCE9-404E-BA7F-152002072413}" type="datetimeFigureOut">
              <a:rPr lang="en-NZ" smtClean="0"/>
              <a:t>27/11/2025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12973-E837-4CB1-B3AF-FC067D31E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04004-9A6D-44E6-A3B5-09600E8A6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B702C-EE3A-4FB7-AF0E-BC6F8A6AF00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51510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86D76-1488-43C5-87C3-FF0A5FB9A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FAAD4-E14C-4D68-9356-11FAB4B7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F028A-6020-4456-8BBA-7B9EED21E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1CD33-CCE9-404E-BA7F-152002072413}" type="datetimeFigureOut">
              <a:rPr lang="en-NZ" smtClean="0"/>
              <a:t>27/11/2025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B03F7-7357-49AC-8749-C88D8D0D7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70AFF-67A4-4D04-B0A1-B7092C64A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B702C-EE3A-4FB7-AF0E-BC6F8A6AF00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57765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86585-2876-4DAA-83CA-A47E9A6AC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6D36F-B33E-40BF-B108-6DAF59353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9D194-411F-401D-A6CA-2F94B5A3C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2C1C3-EC4B-490D-ADE2-F627A0C6E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1CD33-CCE9-404E-BA7F-152002072413}" type="datetimeFigureOut">
              <a:rPr lang="en-NZ" smtClean="0"/>
              <a:t>27/11/2025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D2346-43E9-4FDB-9DFC-BDA356DCF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FCEF0-C265-461F-9EBB-940FD648D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B702C-EE3A-4FB7-AF0E-BC6F8A6AF00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60766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74FC0-6B79-4CCC-84DD-D930C2941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17F4C-60E7-496C-9E04-EE0236F8C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673D5D-CC6F-4D9E-98C1-53E172A13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D4134A-15F2-4114-9BCC-57510A217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62325-6E0C-469B-9CCF-2F80EA1509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37A7F-69AD-4FE2-8CA1-0939B4913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1CD33-CCE9-404E-BA7F-152002072413}" type="datetimeFigureOut">
              <a:rPr lang="en-NZ" smtClean="0"/>
              <a:t>27/11/2025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D514E6-794F-4C32-86ED-E61188CDE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32195D-7F8E-4F7D-9728-A374E0B8A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B702C-EE3A-4FB7-AF0E-BC6F8A6AF00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76670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FF53E-B25F-4AC3-91F4-13D8A0429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655031-6993-4C8F-8C2B-FF99286CB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1CD33-CCE9-404E-BA7F-152002072413}" type="datetimeFigureOut">
              <a:rPr lang="en-NZ" smtClean="0"/>
              <a:t>27/11/2025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E7E978-E503-468C-934A-7AB7003A8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215E7-9704-49B4-9747-E68596485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B702C-EE3A-4FB7-AF0E-BC6F8A6AF00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0018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A621B7-08E7-457A-AA17-EE8B08A03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1CD33-CCE9-404E-BA7F-152002072413}" type="datetimeFigureOut">
              <a:rPr lang="en-NZ" smtClean="0"/>
              <a:t>27/11/2025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017AB5-FFA2-4B6B-B4C3-0D7C4DBE6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55D77-DEEC-4F5D-A299-5FC439858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B702C-EE3A-4FB7-AF0E-BC6F8A6AF00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66199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E4E72-1EEB-41A1-982A-D31576941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6226D-1BF3-4295-BC51-E911EAEDB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7F3A9-6229-495C-B88D-7929F343B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BB8836-D717-48A9-BED2-E2518DBF3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1CD33-CCE9-404E-BA7F-152002072413}" type="datetimeFigureOut">
              <a:rPr lang="en-NZ" smtClean="0"/>
              <a:t>27/11/2025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1F0E5-BBB3-43C7-9C86-D89D55476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2DB97-688D-4C21-899B-A012BD47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B702C-EE3A-4FB7-AF0E-BC6F8A6AF00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58362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8EAE5-B1E6-404E-9722-D6E6D8E1E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F6087B-E48F-4CCD-AD52-45E475C792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390A9-6DE5-4DF0-A256-C60FA46FC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755A8-FBC6-4AC5-B421-7330EB27A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1CD33-CCE9-404E-BA7F-152002072413}" type="datetimeFigureOut">
              <a:rPr lang="en-NZ" smtClean="0"/>
              <a:t>27/11/2025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ABB24-7312-45C8-8B86-56B91493E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BE906-BBE8-4EB2-AA8B-90C827CB2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B702C-EE3A-4FB7-AF0E-BC6F8A6AF00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6661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EBDD8-9FF3-4356-9483-FD137A02E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98F-AE6C-4DC9-BC89-BCD17EFFB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542E4-3BE6-44AC-B419-067EF7313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1CD33-CCE9-404E-BA7F-152002072413}" type="datetimeFigureOut">
              <a:rPr lang="en-NZ" smtClean="0"/>
              <a:t>27/11/2025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6B200-F8C6-402A-A1FA-FA6FE242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0706B-B24E-43B1-9DAB-732B6391E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B702C-EE3A-4FB7-AF0E-BC6F8A6AF00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07184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CAA954-50B4-4300-82F3-426CB3F25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F2E866-6FE7-4191-BBA6-DD39C6747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113A6-0392-473A-9E8C-3B91A2E0C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1CD33-CCE9-404E-BA7F-152002072413}" type="datetimeFigureOut">
              <a:rPr lang="en-NZ" smtClean="0"/>
              <a:t>27/11/2025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01765-6AEC-4867-BC9E-AD20247FC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2D1A8-4836-4C2F-A0AC-87CE9765D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B702C-EE3A-4FB7-AF0E-BC6F8A6AF00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93178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2994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CCB5F7-6397-463B-AE13-FE0A1C093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C9509-E93E-4003-9F94-C2CC66299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CEBDF-3796-45A8-A042-84EF4E8051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1CD33-CCE9-404E-BA7F-152002072413}" type="datetimeFigureOut">
              <a:rPr lang="en-NZ" smtClean="0"/>
              <a:t>27/11/2025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F695E-FC8B-4FE2-B0DF-062F077D08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29DE8-F581-4A5E-94C0-96CE05520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B702C-EE3A-4FB7-AF0E-BC6F8A6AF00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6662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Manual Input 5">
            <a:extLst>
              <a:ext uri="{FF2B5EF4-FFF2-40B4-BE49-F238E27FC236}">
                <a16:creationId xmlns:a16="http://schemas.microsoft.com/office/drawing/2014/main" id="{DDE37C97-92E1-4649-9C33-E1DF5BAAAAE2}"/>
              </a:ext>
            </a:extLst>
          </p:cNvPr>
          <p:cNvSpPr/>
          <p:nvPr/>
        </p:nvSpPr>
        <p:spPr>
          <a:xfrm rot="5400000">
            <a:off x="-857250" y="857250"/>
            <a:ext cx="6858000" cy="5143500"/>
          </a:xfrm>
          <a:prstGeom prst="flowChartManualInpu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A5B24-3B8F-4EF6-B58B-FF281002B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0" y="904559"/>
            <a:ext cx="7782560" cy="1655762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b="1" dirty="0"/>
              <a:t>           From GitLab to Power Platform: </a:t>
            </a:r>
            <a:br>
              <a:rPr lang="en-US" sz="3200" b="1" dirty="0"/>
            </a:br>
            <a:r>
              <a:rPr lang="en-US" sz="3200" b="1" dirty="0"/>
              <a:t>Cloud - Native ALM with PAC CLI and Google Cloud</a:t>
            </a:r>
            <a:br>
              <a:rPr lang="en-US" sz="3200" b="1" dirty="0"/>
            </a:br>
            <a:endParaRPr lang="en-NZ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731F8-33A7-40B8-947F-E51E9617E1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1124" y="3640138"/>
            <a:ext cx="6581775" cy="1655762"/>
          </a:xfrm>
        </p:spPr>
        <p:txBody>
          <a:bodyPr/>
          <a:lstStyle/>
          <a:p>
            <a:pPr algn="l"/>
            <a:r>
              <a:rPr lang="en-NZ" dirty="0">
                <a:solidFill>
                  <a:schemeClr val="accent2">
                    <a:lumMod val="75000"/>
                  </a:schemeClr>
                </a:solidFill>
              </a:rPr>
              <a:t>Pavan Mani Deep Yaragani</a:t>
            </a:r>
          </a:p>
          <a:p>
            <a:pPr algn="l"/>
            <a:r>
              <a:rPr lang="en-NZ" dirty="0">
                <a:solidFill>
                  <a:schemeClr val="bg1">
                    <a:lumMod val="50000"/>
                  </a:schemeClr>
                </a:solidFill>
              </a:rPr>
              <a:t>Dynamics CRM Solution Architect | </a:t>
            </a:r>
            <a:r>
              <a:rPr lang="en-NZ" dirty="0" err="1">
                <a:solidFill>
                  <a:schemeClr val="bg1">
                    <a:lumMod val="50000"/>
                  </a:schemeClr>
                </a:solidFill>
              </a:rPr>
              <a:t>NeoSoft</a:t>
            </a:r>
            <a:r>
              <a:rPr lang="en-NZ" dirty="0">
                <a:solidFill>
                  <a:schemeClr val="bg1">
                    <a:lumMod val="50000"/>
                  </a:schemeClr>
                </a:solidFill>
              </a:rPr>
              <a:t>, Dubai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8AE7FD-3E56-431E-B7DC-731B2ACF5521}"/>
              </a:ext>
            </a:extLst>
          </p:cNvPr>
          <p:cNvSpPr txBox="1"/>
          <p:nvPr/>
        </p:nvSpPr>
        <p:spPr>
          <a:xfrm>
            <a:off x="762000" y="1401109"/>
            <a:ext cx="3257550" cy="1938992"/>
          </a:xfrm>
          <a:prstGeom prst="rect">
            <a:avLst/>
          </a:prstGeom>
          <a:noFill/>
          <a:effectLst>
            <a:outerShdw blurRad="12700" dist="38100" dir="2700000" algn="tl" rotWithShape="0">
              <a:schemeClr val="tx1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r>
              <a:rPr lang="en-NZ" sz="30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yanmar Text" panose="020B0502040204020203" pitchFamily="34" charset="0"/>
                <a:cs typeface="Myanmar Text" panose="020B0502040204020203" pitchFamily="34" charset="0"/>
              </a:rPr>
              <a:t>NEW ZEALAND </a:t>
            </a:r>
          </a:p>
          <a:p>
            <a:r>
              <a:rPr lang="en-NZ" sz="30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yanmar Text" panose="020B0502040204020203" pitchFamily="34" charset="0"/>
                <a:cs typeface="Myanmar Text" panose="020B0502040204020203" pitchFamily="34" charset="0"/>
              </a:rPr>
              <a:t>BUSINESS </a:t>
            </a:r>
          </a:p>
          <a:p>
            <a:r>
              <a:rPr lang="en-NZ" sz="30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yanmar Text" panose="020B0502040204020203" pitchFamily="34" charset="0"/>
                <a:cs typeface="Myanmar Text" panose="020B0502040204020203" pitchFamily="34" charset="0"/>
              </a:rPr>
              <a:t>APPLICATIONS </a:t>
            </a:r>
          </a:p>
          <a:p>
            <a:r>
              <a:rPr lang="en-NZ" sz="30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yanmar Text" panose="020B0502040204020203" pitchFamily="34" charset="0"/>
                <a:cs typeface="Myanmar Text" panose="020B0502040204020203" pitchFamily="34" charset="0"/>
              </a:rPr>
              <a:t>SUMMIT 2025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B907FB-8C7D-4D67-B388-FEA5D526B6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8243"/>
            <a:ext cx="4876801" cy="1795463"/>
          </a:xfrm>
          <a:prstGeom prst="rect">
            <a:avLst/>
          </a:prstGeom>
          <a:effectLst>
            <a:outerShdw blurRad="50800" dist="50800" dir="2700000" algn="ctr" rotWithShape="0">
              <a:schemeClr val="tx1">
                <a:alpha val="50000"/>
              </a:scheme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032443-0D27-C85A-1223-3F17D32F50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124" y="6160168"/>
            <a:ext cx="6819177" cy="63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70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777728" cy="54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6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Me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19200" y="1666213"/>
            <a:ext cx="10160000" cy="3037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Microsoft MVP (2024, 2025) in Power Apps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Currently at </a:t>
            </a:r>
            <a:r>
              <a:rPr lang="en-US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NeoSoft</a:t>
            </a: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, Dubai, United Arab Emirates</a:t>
            </a:r>
            <a:endParaRPr lang="en-US" b="1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Focus: Model Driven Apps, Deployments CI/CD Automation, Cloud Architecture</a:t>
            </a:r>
            <a:endParaRPr lang="en-US" dirty="0"/>
          </a:p>
        </p:txBody>
      </p:sp>
      <p:pic>
        <p:nvPicPr>
          <p:cNvPr id="17" name="Picture 16" descr="A blue and white logo&#10;&#10;AI-generated content may be incorrect.">
            <a:extLst>
              <a:ext uri="{FF2B5EF4-FFF2-40B4-BE49-F238E27FC236}">
                <a16:creationId xmlns:a16="http://schemas.microsoft.com/office/drawing/2014/main" id="{F991924F-9A86-8370-ABEF-B65073D1E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787" y="4160011"/>
            <a:ext cx="1693420" cy="1782716"/>
          </a:xfrm>
          <a:prstGeom prst="rect">
            <a:avLst/>
          </a:prstGeom>
        </p:spPr>
      </p:pic>
      <p:pic>
        <p:nvPicPr>
          <p:cNvPr id="19" name="Picture 18" descr="A blue circle with white text and blue diamond with white text&#10;&#10;AI-generated content may be incorrect.">
            <a:extLst>
              <a:ext uri="{FF2B5EF4-FFF2-40B4-BE49-F238E27FC236}">
                <a16:creationId xmlns:a16="http://schemas.microsoft.com/office/drawing/2014/main" id="{0ED8B4E4-4733-7670-BA1E-AFD70101F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232" y="4173185"/>
            <a:ext cx="2520199" cy="1872015"/>
          </a:xfrm>
          <a:prstGeom prst="rect">
            <a:avLst/>
          </a:prstGeom>
        </p:spPr>
      </p:pic>
      <p:pic>
        <p:nvPicPr>
          <p:cNvPr id="21" name="Picture 20" descr="A blue and white logo&#10;&#10;AI-generated content may be incorrect.">
            <a:extLst>
              <a:ext uri="{FF2B5EF4-FFF2-40B4-BE49-F238E27FC236}">
                <a16:creationId xmlns:a16="http://schemas.microsoft.com/office/drawing/2014/main" id="{D7F40B92-8E47-5F50-C2C6-64D2980D65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3492" y="4160432"/>
            <a:ext cx="1693420" cy="1693420"/>
          </a:xfrm>
          <a:prstGeom prst="rect">
            <a:avLst/>
          </a:prstGeom>
        </p:spPr>
      </p:pic>
      <p:pic>
        <p:nvPicPr>
          <p:cNvPr id="23" name="Picture 22" descr="A blue and white logo with white text&#10;&#10;AI-generated content may be incorrect.">
            <a:extLst>
              <a:ext uri="{FF2B5EF4-FFF2-40B4-BE49-F238E27FC236}">
                <a16:creationId xmlns:a16="http://schemas.microsoft.com/office/drawing/2014/main" id="{11B3F1D5-440A-7C30-606A-E2EA295C40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2973" y="4204659"/>
            <a:ext cx="1693420" cy="1693420"/>
          </a:xfrm>
          <a:prstGeom prst="rect">
            <a:avLst/>
          </a:prstGeom>
        </p:spPr>
      </p:pic>
      <p:pic>
        <p:nvPicPr>
          <p:cNvPr id="31" name="Picture 30" descr="A blue and grey badge with white text&#10;&#10;AI-generated content may be incorrect.">
            <a:extLst>
              <a:ext uri="{FF2B5EF4-FFF2-40B4-BE49-F238E27FC236}">
                <a16:creationId xmlns:a16="http://schemas.microsoft.com/office/drawing/2014/main" id="{EB9A4D6B-4845-0557-8377-4072AF546B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4601" y="4160011"/>
            <a:ext cx="1693420" cy="16934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5AA5FE-6372-4C02-49B5-D0611AEC8F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4462"/>
            <a:ext cx="6819177" cy="6335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6F5A55-0817-71FC-A00A-0524A9E4EA9A}"/>
              </a:ext>
            </a:extLst>
          </p:cNvPr>
          <p:cNvSpPr txBox="1"/>
          <p:nvPr/>
        </p:nvSpPr>
        <p:spPr>
          <a:xfrm>
            <a:off x="9604601" y="6356565"/>
            <a:ext cx="187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/>
              <a:t>#NZBAS25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BA64F-3B35-7350-1F2E-3E7DD1D92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E080285-4D8D-4FED-C457-E535A87F782F}"/>
              </a:ext>
            </a:extLst>
          </p:cNvPr>
          <p:cNvSpPr/>
          <p:nvPr/>
        </p:nvSpPr>
        <p:spPr>
          <a:xfrm>
            <a:off x="707136" y="406400"/>
            <a:ext cx="10777728" cy="54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60"/>
              </a:lnSpc>
            </a:pPr>
            <a:r>
              <a:rPr lang="en-US" sz="36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Agenda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2678868-35DA-E5C0-1B44-D8F54EAD90DE}"/>
              </a:ext>
            </a:extLst>
          </p:cNvPr>
          <p:cNvSpPr/>
          <p:nvPr/>
        </p:nvSpPr>
        <p:spPr>
          <a:xfrm>
            <a:off x="619760" y="1141154"/>
            <a:ext cx="10160000" cy="4765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Before we dive into technical details, let me set some context.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Most organizations who are using Microsoft Ecosystem use Azure DevOps to handle their ALM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GitLab for its powerful code collaboration features, but we run our Power Platform automation (builds, tests, deployments) in Google Cloud.</a:t>
            </a:r>
            <a:br>
              <a:rPr lang="en-US" sz="2400" dirty="0"/>
            </a:br>
            <a:r>
              <a:rPr lang="en-US" sz="2400" dirty="0"/>
              <a:t>Why? This gives us security, scalability, and deep integration with Google’s native DevOps ecosystem.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This hybrid strategy is less common, but it helps us unlock best-of-breed advantages and flexibility that traditional setups can’t offer</a:t>
            </a:r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D8A0F3-A838-45CE-2804-82D8B7437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4462"/>
            <a:ext cx="6819177" cy="6335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7BAECC-F55C-035A-A4FD-6869F635460A}"/>
              </a:ext>
            </a:extLst>
          </p:cNvPr>
          <p:cNvSpPr txBox="1"/>
          <p:nvPr/>
        </p:nvSpPr>
        <p:spPr>
          <a:xfrm>
            <a:off x="9604601" y="6356565"/>
            <a:ext cx="187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/>
              <a:t>#NZBAS25</a:t>
            </a:r>
          </a:p>
        </p:txBody>
      </p:sp>
    </p:spTree>
    <p:extLst>
      <p:ext uri="{BB962C8B-B14F-4D97-AF65-F5344CB8AC3E}">
        <p14:creationId xmlns:p14="http://schemas.microsoft.com/office/powerpoint/2010/main" val="2100526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777728" cy="54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6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Challenges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19200" y="1666216"/>
            <a:ext cx="10160000" cy="2895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The ALM Challenge in Power Platform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Why GitLab + Google Cloud?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PAC CLI: Your DevOps Bridge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Pipeline Architecture &amp; Implementation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Best Practices &amp; Lessons Learned</a:t>
            </a:r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981FC8-D7D2-DC2E-124F-D3CD96C42C1F}"/>
              </a:ext>
            </a:extLst>
          </p:cNvPr>
          <p:cNvSpPr txBox="1"/>
          <p:nvPr/>
        </p:nvSpPr>
        <p:spPr>
          <a:xfrm>
            <a:off x="812800" y="5293361"/>
            <a:ext cx="934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solidFill>
                  <a:schemeClr val="bg1"/>
                </a:solidFill>
              </a:rPr>
              <a:t>P.S: This is a very unique scenario using Google Cloud and recommended if your project is using Google Cloud ecosystem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94CB58-6FDE-B8BE-0FB9-4D50F97BC0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4462"/>
            <a:ext cx="6819177" cy="6335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9C85EC-0B4E-0C9D-5519-F8177490CB9A}"/>
              </a:ext>
            </a:extLst>
          </p:cNvPr>
          <p:cNvSpPr txBox="1"/>
          <p:nvPr/>
        </p:nvSpPr>
        <p:spPr>
          <a:xfrm>
            <a:off x="9604601" y="6356565"/>
            <a:ext cx="187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/>
              <a:t>#NZBAS25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777728" cy="54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6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ALM Challenge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19200" y="1666215"/>
            <a:ext cx="10160000" cy="210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Manual deployments prone to errors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Inconsistent environment configurations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Limited version control integration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Deployment bottlenecks and delays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1CF15C-E8D8-7A12-1522-6095E23977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4462"/>
            <a:ext cx="6819177" cy="6335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59B890-2463-7D1F-EFF0-5365DBA7E15F}"/>
              </a:ext>
            </a:extLst>
          </p:cNvPr>
          <p:cNvSpPr txBox="1"/>
          <p:nvPr/>
        </p:nvSpPr>
        <p:spPr>
          <a:xfrm>
            <a:off x="9604601" y="6356565"/>
            <a:ext cx="187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/>
              <a:t>#NZBAS25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777728" cy="54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6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Cloud-Native ALM?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19200" y="1666216"/>
            <a:ext cx="10160000" cy="3952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Infrastructure as Code approach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Automated testing and validation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Consistent and repeatable deployments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Scalability across multiple projects</a:t>
            </a:r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Easy to setup once you know how to install PAC CLI in Linux environments</a:t>
            </a:r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6D8E94-CE37-53B7-B1EF-23013BFD57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4462"/>
            <a:ext cx="6819177" cy="6335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9030DF-C919-9ACE-0464-F36F6E4F2B28}"/>
              </a:ext>
            </a:extLst>
          </p:cNvPr>
          <p:cNvSpPr txBox="1"/>
          <p:nvPr/>
        </p:nvSpPr>
        <p:spPr>
          <a:xfrm>
            <a:off x="9604601" y="6356565"/>
            <a:ext cx="187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/>
              <a:t>#NZBAS25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03EB7-880D-CC15-C877-7FFC97F3E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AA0853-E3F1-E4F8-7229-D2FBA1A7DDF7}"/>
              </a:ext>
            </a:extLst>
          </p:cNvPr>
          <p:cNvSpPr/>
          <p:nvPr/>
        </p:nvSpPr>
        <p:spPr>
          <a:xfrm>
            <a:off x="812800" y="812800"/>
            <a:ext cx="10777728" cy="54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60"/>
              </a:lnSpc>
            </a:pP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DCCACE-8EB5-E80B-9C47-DFA7E29E9B73}"/>
              </a:ext>
            </a:extLst>
          </p:cNvPr>
          <p:cNvSpPr/>
          <p:nvPr/>
        </p:nvSpPr>
        <p:spPr>
          <a:xfrm>
            <a:off x="1219200" y="1666215"/>
            <a:ext cx="10160000" cy="210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4320"/>
              </a:lnSpc>
              <a:buSzPct val="100000"/>
              <a:buChar char="•"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969C2C-F67E-BFA6-475C-BC2F34F67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048881"/>
              </p:ext>
            </p:extLst>
          </p:nvPr>
        </p:nvGraphicFramePr>
        <p:xfrm>
          <a:off x="1" y="0"/>
          <a:ext cx="11379199" cy="7923568"/>
        </p:xfrm>
        <a:graphic>
          <a:graphicData uri="http://schemas.openxmlformats.org/drawingml/2006/table">
            <a:tbl>
              <a:tblPr/>
              <a:tblGrid>
                <a:gridCol w="2474976">
                  <a:extLst>
                    <a:ext uri="{9D8B030D-6E8A-4147-A177-3AD203B41FA5}">
                      <a16:colId xmlns:a16="http://schemas.microsoft.com/office/drawing/2014/main" val="3693637231"/>
                    </a:ext>
                  </a:extLst>
                </a:gridCol>
                <a:gridCol w="4399957">
                  <a:extLst>
                    <a:ext uri="{9D8B030D-6E8A-4147-A177-3AD203B41FA5}">
                      <a16:colId xmlns:a16="http://schemas.microsoft.com/office/drawing/2014/main" val="3843202752"/>
                    </a:ext>
                  </a:extLst>
                </a:gridCol>
                <a:gridCol w="4504266">
                  <a:extLst>
                    <a:ext uri="{9D8B030D-6E8A-4147-A177-3AD203B41FA5}">
                      <a16:colId xmlns:a16="http://schemas.microsoft.com/office/drawing/2014/main" val="3687588760"/>
                    </a:ext>
                  </a:extLst>
                </a:gridCol>
              </a:tblGrid>
              <a:tr h="664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SG" sz="1600" b="1" dirty="0">
                          <a:solidFill>
                            <a:schemeClr val="tx1"/>
                          </a:solidFill>
                          <a:effectLst/>
                        </a:rPr>
                        <a:t>Feature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SG" sz="1600" b="1">
                          <a:solidFill>
                            <a:schemeClr val="tx1"/>
                          </a:solidFill>
                          <a:effectLst/>
                        </a:rPr>
                        <a:t>GitLab + Google Cloud + PAC CLI (Cloud Native)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SG" sz="1600" b="1" dirty="0">
                          <a:solidFill>
                            <a:schemeClr val="tx1"/>
                          </a:solidFill>
                          <a:effectLst/>
                        </a:rPr>
                        <a:t>Azure DevOps (Traditional/Cloud)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956911"/>
                  </a:ext>
                </a:extLst>
              </a:tr>
              <a:tr h="5277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SG" sz="1600" b="1">
                          <a:solidFill>
                            <a:schemeClr val="tx1"/>
                          </a:solidFill>
                          <a:effectLst/>
                        </a:rPr>
                        <a:t>CI/CD Platform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SG" sz="1600" b="1">
                          <a:solidFill>
                            <a:schemeClr val="tx1"/>
                          </a:solidFill>
                          <a:effectLst/>
                        </a:rPr>
                        <a:t>GitLab (open ecosystem, container native)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Azure DevOps (integrated with Azure)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675659"/>
                  </a:ext>
                </a:extLst>
              </a:tr>
              <a:tr h="5277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SG" sz="1600" b="1" dirty="0">
                          <a:solidFill>
                            <a:schemeClr val="tx1"/>
                          </a:solidFill>
                          <a:effectLst/>
                        </a:rPr>
                        <a:t>Cloud Execution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Google Cloud Build (serverless, scale out)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Azure Pipelines (VMs, hosted agents, cloud-native but centralized in Azure)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779186"/>
                  </a:ext>
                </a:extLst>
              </a:tr>
              <a:tr h="5277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SG" sz="1600" b="1">
                          <a:solidFill>
                            <a:schemeClr val="tx1"/>
                          </a:solidFill>
                          <a:effectLst/>
                        </a:rPr>
                        <a:t>Automation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SG" sz="1600" b="1">
                          <a:solidFill>
                            <a:schemeClr val="tx1"/>
                          </a:solidFill>
                          <a:effectLst/>
                        </a:rPr>
                        <a:t>YAML pipelines, Docker containers, triggers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YAML or classic pipelines, Azure agents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411171"/>
                  </a:ext>
                </a:extLst>
              </a:tr>
              <a:tr h="5277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SG" sz="1600" b="1">
                          <a:solidFill>
                            <a:schemeClr val="tx1"/>
                          </a:solidFill>
                          <a:effectLst/>
                        </a:rPr>
                        <a:t>Platform Flexibility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SG" sz="1600" b="1">
                          <a:solidFill>
                            <a:schemeClr val="tx1"/>
                          </a:solidFill>
                          <a:effectLst/>
                        </a:rPr>
                        <a:t>Runs anywhere (multi-cloud/hybrid)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Primarily Azure-centric (can integrate with other clouds, but best in Azure)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32285"/>
                  </a:ext>
                </a:extLst>
              </a:tr>
              <a:tr h="5277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SG" sz="1600" b="1">
                          <a:solidFill>
                            <a:schemeClr val="tx1"/>
                          </a:solidFill>
                          <a:effectLst/>
                        </a:rPr>
                        <a:t>Containerization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First-class support, containers for PAC CLI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Containers supported, but VM agents more common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700876"/>
                  </a:ext>
                </a:extLst>
              </a:tr>
              <a:tr h="5277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SG" sz="1600" b="1">
                          <a:solidFill>
                            <a:schemeClr val="tx1"/>
                          </a:solidFill>
                          <a:effectLst/>
                        </a:rPr>
                        <a:t>Cloud Native Features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SG" sz="1600" b="1">
                          <a:solidFill>
                            <a:schemeClr val="tx1"/>
                          </a:solidFill>
                          <a:effectLst/>
                        </a:rPr>
                        <a:t>Serverless builds, multi-cloud, auto-scale, resource pooling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Auto-scale only within Azure agent pools, less multi-cloud flexibility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528316"/>
                  </a:ext>
                </a:extLst>
              </a:tr>
              <a:tr h="5277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SG" sz="1600" b="1">
                          <a:solidFill>
                            <a:schemeClr val="tx1"/>
                          </a:solidFill>
                          <a:effectLst/>
                        </a:rPr>
                        <a:t>Resource Management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No agent maintenance, resources managed by Google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Agents managed by Microsoft (hosted) or self-hosted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459651"/>
                  </a:ext>
                </a:extLst>
              </a:tr>
              <a:tr h="5277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SG" sz="1600" b="1">
                          <a:solidFill>
                            <a:schemeClr val="tx1"/>
                          </a:solidFill>
                          <a:effectLst/>
                        </a:rPr>
                        <a:t>Vendor Lock-in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Low—can move between clouds/platforms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Higher—native Azure features, deep integration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689612"/>
                  </a:ext>
                </a:extLst>
              </a:tr>
              <a:tr h="5277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SG" sz="1600" b="1">
                          <a:solidFill>
                            <a:schemeClr val="tx1"/>
                          </a:solidFill>
                          <a:effectLst/>
                        </a:rPr>
                        <a:t>Cost Optimization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Serverless, pay-per-use (Google Cloud Build)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Azure billing, agent pool costs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026359"/>
                  </a:ext>
                </a:extLst>
              </a:tr>
              <a:tr h="5277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SG" sz="1600" b="1">
                          <a:solidFill>
                            <a:schemeClr val="tx1"/>
                          </a:solidFill>
                          <a:effectLst/>
                        </a:rPr>
                        <a:t>Ecosystem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Open source, integrates with any cloud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Tightly integrated with Azure &amp; Microsoft ecosystem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113848"/>
                  </a:ext>
                </a:extLst>
              </a:tr>
              <a:tr h="9262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SG" sz="1600" b="1" dirty="0">
                          <a:solidFill>
                            <a:schemeClr val="tx1"/>
                          </a:solidFill>
                          <a:effectLst/>
                        </a:rPr>
                        <a:t>Security &amp; Compliance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Google IAM, GitLab secrets, multi-cloud security options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</a:rPr>
                        <a:t>Azure AD, managed identities, inbuilt compliance controls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61758"/>
                  </a:ext>
                </a:extLst>
              </a:tr>
              <a:tr h="5277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SG" sz="16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6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SG" sz="16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978591"/>
                  </a:ext>
                </a:extLst>
              </a:tr>
              <a:tr h="5277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SG" sz="1600" b="1">
                          <a:solidFill>
                            <a:schemeClr val="bg1"/>
                          </a:solidFill>
                          <a:effectLst/>
                        </a:rPr>
                        <a:t>Use Case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Multi-cloud/hybrid, container-first, rapid change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Enterprise-standard for Azure customers, integrated DevOps toolchain</a:t>
                      </a:r>
                    </a:p>
                  </a:txBody>
                  <a:tcPr marL="18231" marR="18231" marT="18231" marB="18231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10272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EDFE949-9C4C-D160-F095-F157D1751754}"/>
              </a:ext>
            </a:extLst>
          </p:cNvPr>
          <p:cNvSpPr txBox="1"/>
          <p:nvPr/>
        </p:nvSpPr>
        <p:spPr>
          <a:xfrm>
            <a:off x="9604601" y="6356565"/>
            <a:ext cx="187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/>
              <a:t>#NZBAS25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8DEDC1-229B-6730-38D5-490AEB83D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3262" y="-143986"/>
            <a:ext cx="628738" cy="68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219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072" y="762042"/>
            <a:ext cx="10566400" cy="1523868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0560" y="2463635"/>
            <a:ext cx="10566400" cy="1523868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70560" y="4124657"/>
            <a:ext cx="10566400" cy="1523868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03072" y="0"/>
            <a:ext cx="10777728" cy="54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6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Technology Stack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22528" y="885730"/>
            <a:ext cx="10155936" cy="42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80"/>
              </a:lnSpc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08304" y="1505448"/>
            <a:ext cx="10155936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87"/>
              </a:lnSpc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DevOps platform with integrated CI/CD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5360" y="2488791"/>
            <a:ext cx="10155936" cy="42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80"/>
              </a:lnSpc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 CLI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75360" y="3082667"/>
            <a:ext cx="10155936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87"/>
              </a:lnSpc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Platform Command Line Interface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75360" y="4282185"/>
            <a:ext cx="10155936" cy="42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80"/>
              </a:lnSpc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75360" y="4866355"/>
            <a:ext cx="10155936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87"/>
              </a:lnSpc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CI/CD with Cloud Build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7600" y="6949017"/>
            <a:ext cx="10155936" cy="42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80"/>
              </a:lnSpc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Dataverse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17600" y="7578859"/>
            <a:ext cx="10155936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87"/>
              </a:lnSpc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deployment environment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F5D56F-36B8-0650-BD8D-F75BD75A57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4462"/>
            <a:ext cx="6819177" cy="6335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3C18FCE-9110-9E6B-5AB4-C4235BD7BCC1}"/>
              </a:ext>
            </a:extLst>
          </p:cNvPr>
          <p:cNvSpPr txBox="1"/>
          <p:nvPr/>
        </p:nvSpPr>
        <p:spPr>
          <a:xfrm>
            <a:off x="9604601" y="6356565"/>
            <a:ext cx="187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/>
              <a:t>#NZBAS25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777728" cy="54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6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GitLab?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19200" y="1666215"/>
            <a:ext cx="10160000" cy="210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Complete </a:t>
            </a:r>
            <a:r>
              <a:rPr lang="en-US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DevSecOps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platform in one tool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Advanced CI/CD pipeline capabilities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Built-in security scanning and compliance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Seamless cloud provider integration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0A0894-F40E-7826-37EC-669060818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4462"/>
            <a:ext cx="6819177" cy="6335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8B3E52-46BC-6ECC-E277-5DF9EDEB0D47}"/>
              </a:ext>
            </a:extLst>
          </p:cNvPr>
          <p:cNvSpPr txBox="1"/>
          <p:nvPr/>
        </p:nvSpPr>
        <p:spPr>
          <a:xfrm>
            <a:off x="9604601" y="6356565"/>
            <a:ext cx="187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/>
              <a:t>#NZBAS25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777728" cy="54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6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Google Cloud?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19200" y="1666215"/>
            <a:ext cx="10160000" cy="210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Cloud Build: Serverless and fast execution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Multi-cloud strategy flexibility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Cost-effective compute resources and perfect for those projects using Google Ecosystem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Native container and Docker support if required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8BB69C-471A-CD5D-C242-12261336C0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4462"/>
            <a:ext cx="6819177" cy="6335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A3A493-7A5E-C209-B13E-6FB15970E90A}"/>
              </a:ext>
            </a:extLst>
          </p:cNvPr>
          <p:cNvSpPr txBox="1"/>
          <p:nvPr/>
        </p:nvSpPr>
        <p:spPr>
          <a:xfrm>
            <a:off x="9604601" y="6356565"/>
            <a:ext cx="187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/>
              <a:t>#NZBAS25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777728" cy="54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6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 CLI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66218"/>
            <a:ext cx="10777728" cy="32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60"/>
              </a:lnSpc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Microsoft's official Power Platform Command Line Interface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19200" y="2189430"/>
            <a:ext cx="10160000" cy="153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Cross-platform support (Windows, Linux – Google Cloud Build, Mac)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Solution export and import automation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Environment and authentication management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BB345C-12D3-28F3-3908-904F7096DA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4462"/>
            <a:ext cx="6819177" cy="6335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61858B-9FB0-9413-B2A7-7D8F636145BF}"/>
              </a:ext>
            </a:extLst>
          </p:cNvPr>
          <p:cNvSpPr txBox="1"/>
          <p:nvPr/>
        </p:nvSpPr>
        <p:spPr>
          <a:xfrm>
            <a:off x="9604601" y="6356565"/>
            <a:ext cx="187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/>
              <a:t>#NZBAS25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136" y="999691"/>
            <a:ext cx="10566400" cy="929613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07136" y="2135696"/>
            <a:ext cx="10566400" cy="929613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07136" y="3429000"/>
            <a:ext cx="10566400" cy="929613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07136" y="4543011"/>
            <a:ext cx="10566400" cy="929613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800" y="195716"/>
            <a:ext cx="10777728" cy="54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6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18032" y="1154622"/>
            <a:ext cx="10155936" cy="32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60"/>
              </a:lnSpc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→ GitLab Repository (commit/push)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17600" y="2404206"/>
            <a:ext cx="10155936" cy="32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60"/>
              </a:lnSpc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CI/CD Pipeline → Triggered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17600" y="3670326"/>
            <a:ext cx="10155936" cy="32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60"/>
              </a:lnSpc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Build Recurrence Trigger → Executes YAML Pipeline stored in GitLab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17600" y="4704108"/>
            <a:ext cx="10155936" cy="32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60"/>
              </a:lnSpc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Dataverse → Solution Deployed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64DC93-27E5-B31E-E90F-4CC7E9190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4462"/>
            <a:ext cx="6819177" cy="6335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D110DDE-1593-2CD4-BB22-E0ACF6846F33}"/>
              </a:ext>
            </a:extLst>
          </p:cNvPr>
          <p:cNvSpPr txBox="1"/>
          <p:nvPr/>
        </p:nvSpPr>
        <p:spPr>
          <a:xfrm>
            <a:off x="9604601" y="6356565"/>
            <a:ext cx="187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/>
              <a:t>#NZBAS25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777728" cy="54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6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Strategy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19200" y="1666218"/>
            <a:ext cx="10160000" cy="210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Service Principal in Azure AD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Application User in Dataverse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Secure credentials in Google Cloud Substitutions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Environment-specific service principals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276972-A891-3558-9630-07E96B8B86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4462"/>
            <a:ext cx="6819177" cy="6335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56C88F-4B70-64AC-D317-D3A3001F11A9}"/>
              </a:ext>
            </a:extLst>
          </p:cNvPr>
          <p:cNvSpPr txBox="1"/>
          <p:nvPr/>
        </p:nvSpPr>
        <p:spPr>
          <a:xfrm>
            <a:off x="9604601" y="6356565"/>
            <a:ext cx="187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/>
              <a:t>#NZBAS25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777728" cy="54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6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Pitfalls to Avoid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19200" y="1666218"/>
            <a:ext cx="10160000" cy="210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Missing connection reference updates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Insufficient service principal permissions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Not handling solution dependencies properly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Lack of rollback strategy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DE4F28-412D-52D1-1B3B-8F35015CE8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4462"/>
            <a:ext cx="6819177" cy="6335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94B274-884C-6A2A-F9CB-7EF4938974FD}"/>
              </a:ext>
            </a:extLst>
          </p:cNvPr>
          <p:cNvSpPr txBox="1"/>
          <p:nvPr/>
        </p:nvSpPr>
        <p:spPr>
          <a:xfrm>
            <a:off x="9604601" y="6356565"/>
            <a:ext cx="187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/>
              <a:t>#NZBAS25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777728" cy="54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6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19200" y="1666218"/>
            <a:ext cx="10160000" cy="210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Start simple, iterate incrementally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Test thoroughly in lower environments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Document pipeline configurations clearly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Plan connection references early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5B2876-5DC1-16E7-3322-9F434F47B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4462"/>
            <a:ext cx="6819177" cy="6335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696592-0923-C36D-5808-3C71FD9ADB0D}"/>
              </a:ext>
            </a:extLst>
          </p:cNvPr>
          <p:cNvSpPr txBox="1"/>
          <p:nvPr/>
        </p:nvSpPr>
        <p:spPr>
          <a:xfrm>
            <a:off x="9604601" y="6356565"/>
            <a:ext cx="187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/>
              <a:t>#NZBAS25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777728" cy="54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6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Optimization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19200" y="1666218"/>
            <a:ext cx="10160000" cy="210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Parallel pipeline stage execution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Docker image caching strategies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Incremental builds when possible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Solution component filtering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FF9B70-DC92-2946-4358-C564DC36F8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4462"/>
            <a:ext cx="6819177" cy="6335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56C2D2-D3D0-4058-A26A-65EC5AF96D78}"/>
              </a:ext>
            </a:extLst>
          </p:cNvPr>
          <p:cNvSpPr txBox="1"/>
          <p:nvPr/>
        </p:nvSpPr>
        <p:spPr>
          <a:xfrm>
            <a:off x="9604601" y="6356565"/>
            <a:ext cx="187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/>
              <a:t>#NZBAS25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7568" y="1098909"/>
            <a:ext cx="10566400" cy="1523868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7568" y="2922522"/>
            <a:ext cx="10566400" cy="1523868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7568" y="4692024"/>
            <a:ext cx="10566400" cy="1523868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03072" y="169330"/>
            <a:ext cx="10777728" cy="54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6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&amp; ROI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17600" y="1173528"/>
            <a:ext cx="10155936" cy="42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80"/>
              </a:lnSpc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Savings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17600" y="1864353"/>
            <a:ext cx="10155936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87"/>
              </a:lnSpc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70-80% reduction in deployment time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7816" y="3021587"/>
            <a:ext cx="10155936" cy="42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80"/>
              </a:lnSpc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117600" y="3686271"/>
            <a:ext cx="10155936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87"/>
              </a:lnSpc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fewer deployment errors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7816" y="4745754"/>
            <a:ext cx="10155936" cy="42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80"/>
              </a:lnSpc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67816" y="5453720"/>
            <a:ext cx="10155936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87"/>
              </a:lnSpc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multiple projects easily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7600" y="6949021"/>
            <a:ext cx="10155936" cy="42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80"/>
              </a:lnSpc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17600" y="7578861"/>
            <a:ext cx="10155936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87"/>
              </a:lnSpc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audit trail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6F9992-17C3-4F72-8324-4E30F82ACC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4462"/>
            <a:ext cx="6819177" cy="6335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7A9DF8-5139-F60C-B9D2-530B4D43D487}"/>
              </a:ext>
            </a:extLst>
          </p:cNvPr>
          <p:cNvSpPr txBox="1"/>
          <p:nvPr/>
        </p:nvSpPr>
        <p:spPr>
          <a:xfrm>
            <a:off x="9604601" y="6356565"/>
            <a:ext cx="187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/>
              <a:t>#NZBAS25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71ABB-4945-CD8B-1539-26879C73A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51D5E3A8-25C7-5549-0290-B6BBA84B14A0}"/>
              </a:ext>
            </a:extLst>
          </p:cNvPr>
          <p:cNvSpPr/>
          <p:nvPr/>
        </p:nvSpPr>
        <p:spPr>
          <a:xfrm>
            <a:off x="5516880" y="2763520"/>
            <a:ext cx="10777728" cy="54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6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3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A9B69E0-05C5-9F21-9A7B-1747BD70706F}"/>
              </a:ext>
            </a:extLst>
          </p:cNvPr>
          <p:cNvSpPr/>
          <p:nvPr/>
        </p:nvSpPr>
        <p:spPr>
          <a:xfrm>
            <a:off x="1117600" y="6949021"/>
            <a:ext cx="10155936" cy="42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80"/>
              </a:lnSpc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2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7BA2037-8559-C63B-61AC-6900B6A87859}"/>
              </a:ext>
            </a:extLst>
          </p:cNvPr>
          <p:cNvSpPr/>
          <p:nvPr/>
        </p:nvSpPr>
        <p:spPr>
          <a:xfrm>
            <a:off x="1117600" y="7578861"/>
            <a:ext cx="10155936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87"/>
              </a:lnSpc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audit trail</a:t>
            </a:r>
            <a:endParaRPr lang="en-US"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BEB6BA-9EA9-18AE-9C76-4F016CCA79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4462"/>
            <a:ext cx="6819177" cy="6335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189389-E2AA-2E3E-19DD-5C6686DE38F5}"/>
              </a:ext>
            </a:extLst>
          </p:cNvPr>
          <p:cNvSpPr txBox="1"/>
          <p:nvPr/>
        </p:nvSpPr>
        <p:spPr>
          <a:xfrm>
            <a:off x="9604601" y="6356565"/>
            <a:ext cx="187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/>
              <a:t>#NZBAS25</a:t>
            </a:r>
          </a:p>
        </p:txBody>
      </p:sp>
    </p:spTree>
    <p:extLst>
      <p:ext uri="{BB962C8B-B14F-4D97-AF65-F5344CB8AC3E}">
        <p14:creationId xmlns:p14="http://schemas.microsoft.com/office/powerpoint/2010/main" val="321086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D1961-B82A-031D-9CC1-23F7D7155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11">
            <a:extLst>
              <a:ext uri="{FF2B5EF4-FFF2-40B4-BE49-F238E27FC236}">
                <a16:creationId xmlns:a16="http://schemas.microsoft.com/office/drawing/2014/main" id="{94FB45AF-4EF3-755C-F2B0-57BE86C3F4A2}"/>
              </a:ext>
            </a:extLst>
          </p:cNvPr>
          <p:cNvSpPr/>
          <p:nvPr/>
        </p:nvSpPr>
        <p:spPr>
          <a:xfrm>
            <a:off x="1117600" y="6949021"/>
            <a:ext cx="10155936" cy="42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80"/>
              </a:lnSpc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2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0DFB150-7FA8-9108-ADAE-A3BAF39152BB}"/>
              </a:ext>
            </a:extLst>
          </p:cNvPr>
          <p:cNvSpPr/>
          <p:nvPr/>
        </p:nvSpPr>
        <p:spPr>
          <a:xfrm>
            <a:off x="1117600" y="7578861"/>
            <a:ext cx="10155936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87"/>
              </a:lnSpc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audit trail</a:t>
            </a: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0C8EEA-C380-249B-7389-F2AB638BE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951A642-23B8-6A92-1CCC-E7F9F69091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4462"/>
            <a:ext cx="6819177" cy="6335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FB234E-8ABC-477F-4C70-3C3122D9EE92}"/>
              </a:ext>
            </a:extLst>
          </p:cNvPr>
          <p:cNvSpPr txBox="1"/>
          <p:nvPr/>
        </p:nvSpPr>
        <p:spPr>
          <a:xfrm>
            <a:off x="9604601" y="6356565"/>
            <a:ext cx="187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/>
              <a:t>#NZBAS25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97A39-B1AF-7B37-A8C3-9A04F88158C5}"/>
              </a:ext>
            </a:extLst>
          </p:cNvPr>
          <p:cNvSpPr txBox="1"/>
          <p:nvPr/>
        </p:nvSpPr>
        <p:spPr>
          <a:xfrm>
            <a:off x="9757001" y="6508965"/>
            <a:ext cx="187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/>
              <a:t>#NZBAS25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85C8CD-E667-6C70-FF80-CEAFF94B08FD}"/>
              </a:ext>
            </a:extLst>
          </p:cNvPr>
          <p:cNvSpPr txBox="1"/>
          <p:nvPr/>
        </p:nvSpPr>
        <p:spPr>
          <a:xfrm>
            <a:off x="9909401" y="6661365"/>
            <a:ext cx="187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/>
              <a:t>#NZBAS25</a:t>
            </a:r>
          </a:p>
        </p:txBody>
      </p:sp>
    </p:spTree>
    <p:extLst>
      <p:ext uri="{BB962C8B-B14F-4D97-AF65-F5344CB8AC3E}">
        <p14:creationId xmlns:p14="http://schemas.microsoft.com/office/powerpoint/2010/main" val="497917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777728" cy="54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6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19200" y="1666218"/>
            <a:ext cx="10160000" cy="210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Automated testing frameworks integration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AI-powered deployment insights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Multi-region deployment strategies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Advanced monitoring and analytics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FCEC63-EBA8-2AA0-4E61-FDBFCB26D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4462"/>
            <a:ext cx="6819177" cy="6335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0490F0-50D9-B885-7DE4-C49AFBEC5AC2}"/>
              </a:ext>
            </a:extLst>
          </p:cNvPr>
          <p:cNvSpPr txBox="1"/>
          <p:nvPr/>
        </p:nvSpPr>
        <p:spPr>
          <a:xfrm>
            <a:off x="9604601" y="6356565"/>
            <a:ext cx="187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/>
              <a:t>#NZBAS25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777728" cy="54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6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19200" y="1666218"/>
            <a:ext cx="10160000" cy="210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PAC CLI Documentation: aka.ms/pac-cli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Power Platform ALM Guide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GitLab CI/CD Documentation</a:t>
            </a:r>
            <a:endParaRPr lang="en-US" dirty="0"/>
          </a:p>
          <a:p>
            <a:pPr marL="457189" indent="-457189">
              <a:lnSpc>
                <a:spcPts val="4320"/>
              </a:lnSpc>
              <a:buSzPct val="100000"/>
              <a:buChar char="•"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Google Cloud Build Samples</a:t>
            </a:r>
            <a:endParaRPr lang="en-US" dirty="0"/>
          </a:p>
        </p:txBody>
      </p:sp>
      <p:pic>
        <p:nvPicPr>
          <p:cNvPr id="5" name="Picture 4" descr="A qr code with a black background&#10;&#10;AI-generated content may be incorrect.">
            <a:extLst>
              <a:ext uri="{FF2B5EF4-FFF2-40B4-BE49-F238E27FC236}">
                <a16:creationId xmlns:a16="http://schemas.microsoft.com/office/drawing/2014/main" id="{E9E78E99-D6E5-FC79-05D4-7793F351E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2560" y="1523957"/>
            <a:ext cx="2849880" cy="28498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148CA8-0F61-FA17-44A1-842EAECEF930}"/>
              </a:ext>
            </a:extLst>
          </p:cNvPr>
          <p:cNvSpPr txBox="1"/>
          <p:nvPr/>
        </p:nvSpPr>
        <p:spPr>
          <a:xfrm>
            <a:off x="8321040" y="1011232"/>
            <a:ext cx="2164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solidFill>
                  <a:schemeClr val="bg1"/>
                </a:solidFill>
              </a:rPr>
              <a:t>Blog Post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3F48B9-771C-DE66-D946-A132703EF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4462"/>
            <a:ext cx="6819177" cy="6335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2C54DB-F4A0-5CDA-0BC2-585D1565E6DD}"/>
              </a:ext>
            </a:extLst>
          </p:cNvPr>
          <p:cNvSpPr txBox="1"/>
          <p:nvPr/>
        </p:nvSpPr>
        <p:spPr>
          <a:xfrm>
            <a:off x="9604601" y="6356565"/>
            <a:ext cx="1876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/>
              <a:t>#NZBAS25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29197B0-688F-4BCD-8B05-3655D74E4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825"/>
            <a:ext cx="10515600" cy="1325563"/>
          </a:xfrm>
        </p:spPr>
        <p:txBody>
          <a:bodyPr/>
          <a:lstStyle/>
          <a:p>
            <a:pPr algn="ctr"/>
            <a:r>
              <a:rPr lang="en-AU" dirty="0">
                <a:cs typeface="Segoe UI Light" panose="020B0502040204020203" pitchFamily="34" charset="0"/>
              </a:rPr>
              <a:t>Thank you</a:t>
            </a:r>
            <a:endParaRPr lang="en-NZ" dirty="0"/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401DF280-A342-4CB3-A151-CA8FF6CB7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993" y="4657056"/>
            <a:ext cx="3364604" cy="718494"/>
          </a:xfrm>
          <a:prstGeom prst="rect">
            <a:avLst/>
          </a:prstGeom>
        </p:spPr>
      </p:pic>
      <p:pic>
        <p:nvPicPr>
          <p:cNvPr id="5" name="Picture 2" descr="DUG - Dynamics User Group">
            <a:extLst>
              <a:ext uri="{FF2B5EF4-FFF2-40B4-BE49-F238E27FC236}">
                <a16:creationId xmlns:a16="http://schemas.microsoft.com/office/drawing/2014/main" id="{7329D1C5-0E4B-35FD-F61B-1FA5C28B2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785" y="1576840"/>
            <a:ext cx="2115802" cy="758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Microsoft Power Platform | New Zealand | AppRising">
            <a:extLst>
              <a:ext uri="{FF2B5EF4-FFF2-40B4-BE49-F238E27FC236}">
                <a16:creationId xmlns:a16="http://schemas.microsoft.com/office/drawing/2014/main" id="{59FEEE87-D06E-1A7A-535A-FFCBEEB43A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293" y="2497016"/>
            <a:ext cx="3036278" cy="3094892"/>
          </a:xfrm>
          <a:prstGeom prst="rect">
            <a:avLst/>
          </a:prstGeom>
        </p:spPr>
      </p:pic>
      <p:pic>
        <p:nvPicPr>
          <p:cNvPr id="1028" name="Picture 4" descr="Hnry | Tax for Contractors - Forget Contractor Payroll">
            <a:extLst>
              <a:ext uri="{FF2B5EF4-FFF2-40B4-BE49-F238E27FC236}">
                <a16:creationId xmlns:a16="http://schemas.microsoft.com/office/drawing/2014/main" id="{1BC9C769-0685-A039-A797-DA0796731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711" y="1924224"/>
            <a:ext cx="2115802" cy="211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Stratos Technology Partners - DWCNZ">
            <a:extLst>
              <a:ext uri="{FF2B5EF4-FFF2-40B4-BE49-F238E27FC236}">
                <a16:creationId xmlns:a16="http://schemas.microsoft.com/office/drawing/2014/main" id="{7384E116-713E-DBEB-2423-CAE2BE51C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428" y="1718479"/>
            <a:ext cx="2189996" cy="1112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Fusion5 | TIN – Technology Investment Network">
            <a:extLst>
              <a:ext uri="{FF2B5EF4-FFF2-40B4-BE49-F238E27FC236}">
                <a16:creationId xmlns:a16="http://schemas.microsoft.com/office/drawing/2014/main" id="{910CD5D0-AAEE-E05A-D76D-0E5B4AABA1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3477" y="3025301"/>
            <a:ext cx="2743200" cy="10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74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2052</TotalTime>
  <Words>891</Words>
  <Application>Microsoft Office PowerPoint</Application>
  <PresentationFormat>Widescreen</PresentationFormat>
  <Paragraphs>193</Paragraphs>
  <Slides>22</Slides>
  <Notes>20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Myanmar Text</vt:lpstr>
      <vt:lpstr>Segoe UI Light</vt:lpstr>
      <vt:lpstr>Office Theme</vt:lpstr>
      <vt:lpstr>           From GitLab to Power Platform:  Cloud - Native ALM with PAC CLI and Google Cloud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Title</dc:title>
  <dc:creator>Mounla, Rami</dc:creator>
  <cp:lastModifiedBy>yaragani pavan mani deep</cp:lastModifiedBy>
  <cp:revision>17</cp:revision>
  <dcterms:created xsi:type="dcterms:W3CDTF">2021-11-02T09:16:29Z</dcterms:created>
  <dcterms:modified xsi:type="dcterms:W3CDTF">2025-11-29T03:48:34Z</dcterms:modified>
</cp:coreProperties>
</file>