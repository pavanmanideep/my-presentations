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7" r:id="rId2"/>
    <p:sldId id="293" r:id="rId3"/>
    <p:sldId id="280" r:id="rId4"/>
    <p:sldId id="294" r:id="rId5"/>
    <p:sldId id="297" r:id="rId6"/>
    <p:sldId id="278" r:id="rId7"/>
    <p:sldId id="284" r:id="rId8"/>
    <p:sldId id="282" r:id="rId9"/>
    <p:sldId id="295" r:id="rId10"/>
    <p:sldId id="296" r:id="rId11"/>
    <p:sldId id="283" r:id="rId12"/>
    <p:sldId id="286" r:id="rId13"/>
    <p:sldId id="290" r:id="rId14"/>
    <p:sldId id="29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EC123-5633-1A84-7FBE-A60B0E93F1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3573F8-D46F-2D76-4DB2-68CC134121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392DB8-4C0F-4F86-0E14-4F5B6C32C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4C4ED-AF31-4BC9-8E90-AE9991A66DCC}" type="datetimeFigureOut">
              <a:rPr lang="en-SG" smtClean="0"/>
              <a:t>13/6/2025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CC3C47-2790-EEBA-D0C5-2303B6ABD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ED926-78C7-4BB0-8FA6-F20C310C5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67A63-ACF9-46CA-A29F-EB17EB72396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07819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ABBB1-A1C0-3D19-31A9-31BB55766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8F1A3-09D7-A41A-FC9C-EA1F99FC51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D2095E-B037-07CE-7EE8-400EB89B7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4C4ED-AF31-4BC9-8E90-AE9991A66DCC}" type="datetimeFigureOut">
              <a:rPr lang="en-SG" smtClean="0"/>
              <a:t>13/6/2025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FB76F-171D-CEAE-C575-293872719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5D17F-EAB2-D475-4903-4907DF657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67A63-ACF9-46CA-A29F-EB17EB72396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69806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50F4B-60DB-0A39-B1AE-D78F951F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224524-8D09-0B6D-7B02-2D1E353C07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866A3C-9394-C159-F34A-83332DA9E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4C4ED-AF31-4BC9-8E90-AE9991A66DCC}" type="datetimeFigureOut">
              <a:rPr lang="en-SG" smtClean="0"/>
              <a:t>13/6/2025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FE06C7-4E7B-431D-67E1-0FD721BCE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21FEE-D8CB-C01D-8008-34FA4FA4A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67A63-ACF9-46CA-A29F-EB17EB72396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32017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1439D-01BC-CEA1-E543-EF2D867D0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D748B-D676-B49B-A0A2-9788B3E537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AA7C4A-5E92-2E8B-983F-AEDA1625D4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F35409-60C2-9352-2FAF-CAA916F4E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4C4ED-AF31-4BC9-8E90-AE9991A66DCC}" type="datetimeFigureOut">
              <a:rPr lang="en-SG" smtClean="0"/>
              <a:t>13/6/2025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2F2D2F-C10F-3630-4CE9-F8723025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D01AB-1104-F771-9EC3-E224A6F1D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67A63-ACF9-46CA-A29F-EB17EB72396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08990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BA685-B5F7-F5FD-F324-E86186A25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E5834B-C556-7400-2610-0CC6B6551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5F382B-D83B-C6C1-7F18-B04A09869F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D9CC80-C588-547D-85FC-2E5D9B89BE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CDDD9C-1037-E506-3D33-3C10DE1F63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2F4557-B35F-DC14-CA0F-63F607FDB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4C4ED-AF31-4BC9-8E90-AE9991A66DCC}" type="datetimeFigureOut">
              <a:rPr lang="en-SG" smtClean="0"/>
              <a:t>13/6/2025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E58777-1F86-CB09-8CC5-07346D397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07BFDD-D80D-EFB3-6746-CE691E6D1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67A63-ACF9-46CA-A29F-EB17EB72396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7499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B06B6-7635-C629-97FF-2AE4FC25D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FADB09-5C4A-B17F-599E-D7697AA1B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4C4ED-AF31-4BC9-8E90-AE9991A66DCC}" type="datetimeFigureOut">
              <a:rPr lang="en-SG" smtClean="0"/>
              <a:t>13/6/2025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F0F898-5F88-7E9C-9220-64806DEB7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719F9F-91E4-4EB7-E85A-71040B2CA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67A63-ACF9-46CA-A29F-EB17EB72396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13133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40209B-886A-AAF8-D04A-29AEE05EA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4C4ED-AF31-4BC9-8E90-AE9991A66DCC}" type="datetimeFigureOut">
              <a:rPr lang="en-SG" smtClean="0"/>
              <a:t>13/6/2025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1FF538-6218-9C60-7CC1-BCADA2C5C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A214B3-3778-0AF7-57DE-E1D7F4951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67A63-ACF9-46CA-A29F-EB17EB72396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80001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78F08-69D4-2E31-BAF0-21F3F0C81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E1AF5-DE7D-EB9D-9427-73F435CD16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8024E9-1509-E510-9AB2-C7EF72A61A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CB5890-292D-46BE-2C78-9709C02E1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4C4ED-AF31-4BC9-8E90-AE9991A66DCC}" type="datetimeFigureOut">
              <a:rPr lang="en-SG" smtClean="0"/>
              <a:t>13/6/2025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598E17-D318-6946-18CC-A979E89C4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FB41A6-50E8-898F-EC68-66FFE9675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67A63-ACF9-46CA-A29F-EB17EB72396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37774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F007A-C93D-59A6-6212-2EB479AE2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80556F-FCC0-680E-5251-CFF70D551A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235FBB-CC55-2D3F-EFEB-C76810324F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8005D6-F083-AB02-83B1-524A5754A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4C4ED-AF31-4BC9-8E90-AE9991A66DCC}" type="datetimeFigureOut">
              <a:rPr lang="en-SG" smtClean="0"/>
              <a:t>13/6/2025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3B1853-D37F-09A0-B0D7-EBE94BA3E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CDEE87-25F2-30CC-3727-175F4B565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67A63-ACF9-46CA-A29F-EB17EB72396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99134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6E6AF-C59B-B6B7-1F69-382295AE3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6F446E-0C1E-493F-4D71-C9305B457C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118D8E-41DD-8BDE-720A-DEB853C61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4C4ED-AF31-4BC9-8E90-AE9991A66DCC}" type="datetimeFigureOut">
              <a:rPr lang="en-SG" smtClean="0"/>
              <a:t>13/6/2025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F21DA-6E56-0BE9-AD03-8038D47A0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5FBE4B-53CD-7606-4690-AB67F5129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67A63-ACF9-46CA-A29F-EB17EB72396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07332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C55E64-9E97-FBC8-E39D-3E9EDB2814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C9583D-0084-1370-F05F-1736F3EBA1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C9D45-7C37-522B-B49F-6C2C1BBB2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4C4ED-AF31-4BC9-8E90-AE9991A66DCC}" type="datetimeFigureOut">
              <a:rPr lang="en-SG" smtClean="0"/>
              <a:t>13/6/2025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91B7F3-1E48-7B8E-90CC-7EB0921F1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156FC-14F4-98BF-67E4-D8D942043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67A63-ACF9-46CA-A29F-EB17EB72396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54316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A1B1A8-3B97-1025-1823-A00781C47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7CD593-2552-52A8-2111-E80EF58EBD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1D401F-0DD2-12F9-0B28-5BA2D1D2A4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E4C4ED-AF31-4BC9-8E90-AE9991A66DCC}" type="datetimeFigureOut">
              <a:rPr lang="en-SG" smtClean="0"/>
              <a:t>13/6/2025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868A8D-A7F3-1B0D-F162-131873EEDC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D0F0F-AEE3-8AFA-ABED-8E351A694F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067A63-ACF9-46CA-A29F-EB17EB72396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96899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pavanmanideep/" TargetMode="External"/><Relationship Id="rId2" Type="http://schemas.openxmlformats.org/officeDocument/2006/relationships/hyperlink" Target="https://twitter.com/EcellorsCrm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C2BF2C-CAA9-EDEF-4391-2237C2C65EC5}"/>
              </a:ext>
            </a:extLst>
          </p:cNvPr>
          <p:cNvSpPr txBox="1"/>
          <p:nvPr/>
        </p:nvSpPr>
        <p:spPr>
          <a:xfrm>
            <a:off x="1034143" y="940785"/>
            <a:ext cx="1028699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3200" dirty="0"/>
              <a:t>పవర్ యాప్స్‌ను ఎలివేట్ చేయడం: రియాక్ట్‌తో </a:t>
            </a:r>
            <a:r>
              <a:rPr lang="en-SG" sz="3200" dirty="0"/>
              <a:t>PCF </a:t>
            </a:r>
            <a:r>
              <a:rPr lang="te-IN" sz="3200" dirty="0"/>
              <a:t>పోటెన్షియల్స్‌ను అన్లాక్ చేయడం</a:t>
            </a:r>
            <a:endParaRPr lang="en-SG" sz="3200" b="1" dirty="0"/>
          </a:p>
        </p:txBody>
      </p:sp>
      <p:pic>
        <p:nvPicPr>
          <p:cNvPr id="7170" name="Picture 2" descr="PowerApps Component Framework (PCF) + React">
            <a:extLst>
              <a:ext uri="{FF2B5EF4-FFF2-40B4-BE49-F238E27FC236}">
                <a16:creationId xmlns:a16="http://schemas.microsoft.com/office/drawing/2014/main" id="{E51E5AEA-33A1-2475-DD09-43D72D79F4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7012" y="2104472"/>
            <a:ext cx="4976132" cy="2922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6CAE653-8897-96D7-073B-6A476DB80154}"/>
              </a:ext>
            </a:extLst>
          </p:cNvPr>
          <p:cNvSpPr txBox="1"/>
          <p:nvPr/>
        </p:nvSpPr>
        <p:spPr>
          <a:xfrm>
            <a:off x="740229" y="5606143"/>
            <a:ext cx="110163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e-IN" sz="2400" dirty="0"/>
              <a:t>తెలుగు మైక్రోసాఫ్ట్ డైనమిక్స్ 365 మరియు పవర్ ప్లాట్‌ఫారమ్ కమ్యూనిటీ</a:t>
            </a:r>
            <a:r>
              <a:rPr lang="en-SG" sz="2400" dirty="0"/>
              <a:t> </a:t>
            </a:r>
            <a:r>
              <a:rPr lang="te-IN" sz="2400" dirty="0"/>
              <a:t>సమావేశం</a:t>
            </a:r>
            <a:r>
              <a:rPr lang="en-SG" sz="2400" dirty="0"/>
              <a:t>, </a:t>
            </a:r>
            <a:r>
              <a:rPr lang="te-IN" sz="2400" dirty="0"/>
              <a:t>జూన్</a:t>
            </a:r>
            <a:r>
              <a:rPr lang="en-SG" sz="2400" dirty="0"/>
              <a:t>, 2025</a:t>
            </a:r>
          </a:p>
        </p:txBody>
      </p:sp>
    </p:spTree>
    <p:extLst>
      <p:ext uri="{BB962C8B-B14F-4D97-AF65-F5344CB8AC3E}">
        <p14:creationId xmlns:p14="http://schemas.microsoft.com/office/powerpoint/2010/main" val="3759802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52480-3A8C-4ECB-85C4-A3D3728FB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Pavan Mani Deep Y</a:t>
            </a:r>
            <a:br>
              <a:rPr lang="en-SG" dirty="0"/>
            </a:b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257C2-1431-4D7A-8522-B7A910E80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Passionate Power Platform Consultant &amp; Microsoft MVP</a:t>
            </a:r>
          </a:p>
          <a:p>
            <a:r>
              <a:rPr lang="en-S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Blog: </a:t>
            </a:r>
            <a:r>
              <a:rPr lang="en-S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https://ecellorscrm.com</a:t>
            </a:r>
            <a:endParaRPr lang="en-S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S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LinkedIn: </a:t>
            </a:r>
            <a:r>
              <a:rPr lang="en-S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https://www.linkedin.com/in/pavanmanideep/</a:t>
            </a:r>
            <a:endParaRPr lang="en-S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S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Twitter: </a:t>
            </a:r>
            <a:r>
              <a:rPr lang="en-S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https://twitter.com/EcellorsCrm</a:t>
            </a:r>
            <a:endParaRPr lang="en-S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SG" dirty="0"/>
          </a:p>
        </p:txBody>
      </p:sp>
      <p:pic>
        <p:nvPicPr>
          <p:cNvPr id="6" name="Picture 5" descr="A blue and white rectangular sign with white text&#10;&#10;AI-generated content may be incorrect.">
            <a:extLst>
              <a:ext uri="{FF2B5EF4-FFF2-40B4-BE49-F238E27FC236}">
                <a16:creationId xmlns:a16="http://schemas.microsoft.com/office/drawing/2014/main" id="{07FB02DF-F353-31EB-6C94-94EE74B103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4550" y="-44389"/>
            <a:ext cx="917450" cy="1450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389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4F16E-EFA4-225F-C243-0BB49D8BA43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362200" y="1825625"/>
            <a:ext cx="8153400" cy="4351338"/>
          </a:xfrm>
        </p:spPr>
        <p:txBody>
          <a:bodyPr/>
          <a:lstStyle/>
          <a:p>
            <a:r>
              <a:rPr lang="en-SG" dirty="0"/>
              <a:t>PAC CLI</a:t>
            </a:r>
          </a:p>
          <a:p>
            <a:r>
              <a:rPr lang="en-SG" dirty="0"/>
              <a:t>VS Code</a:t>
            </a:r>
          </a:p>
          <a:p>
            <a:r>
              <a:rPr lang="en-SG" dirty="0"/>
              <a:t>Windows Terminal</a:t>
            </a:r>
          </a:p>
          <a:p>
            <a:r>
              <a:rPr lang="en-SG" dirty="0" err="1"/>
              <a:t>.Net</a:t>
            </a:r>
            <a:r>
              <a:rPr lang="en-SG" dirty="0"/>
              <a:t> Build Tools</a:t>
            </a:r>
          </a:p>
          <a:p>
            <a:r>
              <a:rPr lang="en-SG" dirty="0"/>
              <a:t>Typescript</a:t>
            </a:r>
          </a:p>
          <a:p>
            <a:r>
              <a:rPr lang="en-SG" dirty="0"/>
              <a:t>React, Fluent UI – for React Components -</a:t>
            </a:r>
          </a:p>
          <a:p>
            <a:endParaRPr lang="en-SG" dirty="0"/>
          </a:p>
          <a:p>
            <a:endParaRPr lang="en-SG" dirty="0"/>
          </a:p>
          <a:p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5373C9-B48E-A2B6-F25B-EB5F047A4CD1}"/>
              </a:ext>
            </a:extLst>
          </p:cNvPr>
          <p:cNvSpPr txBox="1"/>
          <p:nvPr/>
        </p:nvSpPr>
        <p:spPr>
          <a:xfrm>
            <a:off x="2808514" y="533400"/>
            <a:ext cx="65749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800" b="1" dirty="0">
                <a:latin typeface="Aptos" panose="020B0004020202020204" pitchFamily="34" charset="0"/>
              </a:rPr>
              <a:t>Prerequisites for working on PCF</a:t>
            </a:r>
          </a:p>
        </p:txBody>
      </p:sp>
    </p:spTree>
    <p:extLst>
      <p:ext uri="{BB962C8B-B14F-4D97-AF65-F5344CB8AC3E}">
        <p14:creationId xmlns:p14="http://schemas.microsoft.com/office/powerpoint/2010/main" val="1404890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85D454-CD8D-B78A-A63E-8F0485529CBF}"/>
              </a:ext>
            </a:extLst>
          </p:cNvPr>
          <p:cNvSpPr txBox="1"/>
          <p:nvPr/>
        </p:nvSpPr>
        <p:spPr>
          <a:xfrm>
            <a:off x="1894114" y="1436914"/>
            <a:ext cx="851262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Unlike HTML, CSS, and </a:t>
            </a:r>
            <a:r>
              <a:rPr lang="en-US" sz="2800" dirty="0" err="1"/>
              <a:t>Javascript</a:t>
            </a:r>
            <a:r>
              <a:rPr lang="en-US" sz="2800" dirty="0"/>
              <a:t>, code components are rendered as part of the same context and loaded at the same time as any other components, providing a seamless experience for the user.</a:t>
            </a:r>
            <a:endParaRPr lang="en-SG" sz="2800" dirty="0"/>
          </a:p>
          <a:p>
            <a:endParaRPr lang="en-SG" sz="2800" dirty="0"/>
          </a:p>
          <a:p>
            <a:r>
              <a:rPr lang="en-US" sz="2800" dirty="0"/>
              <a:t>Bundle all the files into a single solution package file and move across environments</a:t>
            </a:r>
          </a:p>
          <a:p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853674-7FEF-63B6-C6B9-27E2AA1B68EC}"/>
              </a:ext>
            </a:extLst>
          </p:cNvPr>
          <p:cNvSpPr txBox="1"/>
          <p:nvPr/>
        </p:nvSpPr>
        <p:spPr>
          <a:xfrm>
            <a:off x="1338943" y="511629"/>
            <a:ext cx="9829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4000" dirty="0"/>
              <a:t>Code Components….?</a:t>
            </a:r>
          </a:p>
        </p:txBody>
      </p:sp>
    </p:spTree>
    <p:extLst>
      <p:ext uri="{BB962C8B-B14F-4D97-AF65-F5344CB8AC3E}">
        <p14:creationId xmlns:p14="http://schemas.microsoft.com/office/powerpoint/2010/main" val="101806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Image showing the 3 main key areas of a PCF Component">
            <a:extLst>
              <a:ext uri="{FF2B5EF4-FFF2-40B4-BE49-F238E27FC236}">
                <a16:creationId xmlns:a16="http://schemas.microsoft.com/office/drawing/2014/main" id="{9EE5071B-8328-C8AC-2343-07FF30BBCA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40656"/>
            <a:ext cx="12192000" cy="5942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F2CD99F-3A74-A590-D144-FBEEBC41BD52}"/>
              </a:ext>
            </a:extLst>
          </p:cNvPr>
          <p:cNvSpPr txBox="1"/>
          <p:nvPr/>
        </p:nvSpPr>
        <p:spPr>
          <a:xfrm>
            <a:off x="3396343" y="261257"/>
            <a:ext cx="55952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3200" dirty="0"/>
              <a:t>PCF Components</a:t>
            </a:r>
          </a:p>
        </p:txBody>
      </p:sp>
    </p:spTree>
    <p:extLst>
      <p:ext uri="{BB962C8B-B14F-4D97-AF65-F5344CB8AC3E}">
        <p14:creationId xmlns:p14="http://schemas.microsoft.com/office/powerpoint/2010/main" val="359994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iagram of methods through a Framework Runtime process in a standardized lifecycle.">
            <a:extLst>
              <a:ext uri="{FF2B5EF4-FFF2-40B4-BE49-F238E27FC236}">
                <a16:creationId xmlns:a16="http://schemas.microsoft.com/office/drawing/2014/main" id="{1AB0D970-DF5F-608C-4A92-17CEC0B9B8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81742"/>
            <a:ext cx="12192000" cy="5976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A38FD9D-D5DE-C474-100E-9000FABD0046}"/>
              </a:ext>
            </a:extLst>
          </p:cNvPr>
          <p:cNvSpPr txBox="1"/>
          <p:nvPr/>
        </p:nvSpPr>
        <p:spPr>
          <a:xfrm>
            <a:off x="1709057" y="87086"/>
            <a:ext cx="7837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3600" dirty="0"/>
              <a:t>PCF Life Cycle</a:t>
            </a:r>
          </a:p>
        </p:txBody>
      </p:sp>
    </p:spTree>
    <p:extLst>
      <p:ext uri="{BB962C8B-B14F-4D97-AF65-F5344CB8AC3E}">
        <p14:creationId xmlns:p14="http://schemas.microsoft.com/office/powerpoint/2010/main" val="2631166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4F91FE1-AAE2-61F6-8005-2464070B966F}"/>
              </a:ext>
            </a:extLst>
          </p:cNvPr>
          <p:cNvSpPr txBox="1"/>
          <p:nvPr/>
        </p:nvSpPr>
        <p:spPr>
          <a:xfrm>
            <a:off x="566057" y="1088571"/>
            <a:ext cx="8577943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ui-monospace"/>
              </a:rPr>
              <a:t>init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__Inter_a184c8"/>
              </a:rPr>
              <a:t>: This method is called when the control is initialized. It is used to set up the control, including event handlers, and to render the initial UI.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>
              <a:solidFill>
                <a:srgbClr val="111111"/>
              </a:solidFill>
              <a:latin typeface="__Inter_a184c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111111"/>
              </a:solidFill>
              <a:effectLst/>
              <a:latin typeface="__Inter_a184c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ui-monospace"/>
              </a:rPr>
              <a:t>updateView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__Inter_a184c8"/>
              </a:rPr>
              <a:t>: This method is called whenever the control needs to be updated, for example, when the control's data or properties change. It is used to re-render the UI with the latest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>
              <a:solidFill>
                <a:srgbClr val="111111"/>
              </a:solidFill>
              <a:latin typeface="__Inter_a184c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111111"/>
              </a:solidFill>
              <a:effectLst/>
              <a:latin typeface="__Inter_a184c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ui-monospace"/>
              </a:rPr>
              <a:t>getOutputs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__Inter_a184c8"/>
              </a:rPr>
              <a:t>: This method returns the current value of the control's outputs, which can be used by other components or stored in the database.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>
              <a:solidFill>
                <a:srgbClr val="111111"/>
              </a:solidFill>
              <a:latin typeface="__Inter_a184c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ui-monospace"/>
              </a:rPr>
              <a:t>destroy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__Inter_a184c8"/>
              </a:rPr>
              <a:t>: This method is called when the control is removed from the DOM. It is used to clean up resources, such as event handlers, to prevent memory leaks.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3EF689-6EB9-B887-3E6A-3CE3445A837F}"/>
              </a:ext>
            </a:extLst>
          </p:cNvPr>
          <p:cNvSpPr txBox="1"/>
          <p:nvPr/>
        </p:nvSpPr>
        <p:spPr>
          <a:xfrm>
            <a:off x="664029" y="370114"/>
            <a:ext cx="96665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3200" dirty="0"/>
              <a:t>Life Cycle Methods of PCF </a:t>
            </a:r>
          </a:p>
        </p:txBody>
      </p:sp>
    </p:spTree>
    <p:extLst>
      <p:ext uri="{BB962C8B-B14F-4D97-AF65-F5344CB8AC3E}">
        <p14:creationId xmlns:p14="http://schemas.microsoft.com/office/powerpoint/2010/main" val="1138538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07B3F1-4FA9-B5CE-0FDB-4BE309AFDCF0}"/>
              </a:ext>
            </a:extLst>
          </p:cNvPr>
          <p:cNvSpPr txBox="1"/>
          <p:nvPr/>
        </p:nvSpPr>
        <p:spPr>
          <a:xfrm>
            <a:off x="500743" y="468086"/>
            <a:ext cx="96556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SG" dirty="0"/>
          </a:p>
          <a:p>
            <a:endParaRPr lang="en-SG" dirty="0"/>
          </a:p>
          <a:p>
            <a:endParaRPr lang="en-SG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D93AA052-CCCF-6B6C-FCFD-B754FA1B88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086" y="468086"/>
            <a:ext cx="9731828" cy="580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6302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4" name="Picture 4">
            <a:extLst>
              <a:ext uri="{FF2B5EF4-FFF2-40B4-BE49-F238E27FC236}">
                <a16:creationId xmlns:a16="http://schemas.microsoft.com/office/drawing/2014/main" id="{762C3D0E-6C04-8A72-D6FE-99D2196660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0" y="2357438"/>
            <a:ext cx="9715500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C541DA8-96BF-4DAA-B6FB-59FB8B65D544}"/>
              </a:ext>
            </a:extLst>
          </p:cNvPr>
          <p:cNvSpPr txBox="1"/>
          <p:nvPr/>
        </p:nvSpPr>
        <p:spPr>
          <a:xfrm>
            <a:off x="1132114" y="740229"/>
            <a:ext cx="1004751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4400" dirty="0"/>
              <a:t>Standard vs React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83CD66-7EE3-6C87-F0B5-CD80BEB7D67F}"/>
              </a:ext>
            </a:extLst>
          </p:cNvPr>
          <p:cNvSpPr txBox="1"/>
          <p:nvPr/>
        </p:nvSpPr>
        <p:spPr>
          <a:xfrm>
            <a:off x="620486" y="4963886"/>
            <a:ext cx="108639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Above are some high-level numbers comparing standard and virtual versions of </a:t>
            </a:r>
            <a:r>
              <a:rPr lang="en-US" dirty="0" err="1"/>
              <a:t>FacePile</a:t>
            </a:r>
            <a:r>
              <a:rPr lang="en-US" dirty="0"/>
              <a:t> control on development machine.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 you can see from the statistics above, in React-based code components, the React and Fluent libraries aren’t included in the package because they’re shared. Therefore, the size of bundle.js is smaller.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194016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6C3E36-FD1E-8EDA-F66D-781FFB2359D2}"/>
              </a:ext>
            </a:extLst>
          </p:cNvPr>
          <p:cNvSpPr txBox="1"/>
          <p:nvPr/>
        </p:nvSpPr>
        <p:spPr>
          <a:xfrm>
            <a:off x="1001486" y="936171"/>
            <a:ext cx="107768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SG" dirty="0"/>
          </a:p>
          <a:p>
            <a:endParaRPr lang="en-SG" dirty="0"/>
          </a:p>
          <a:p>
            <a:endParaRPr lang="en-SG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E1DB7832-0936-A2EA-08B0-9416325819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657" y="625525"/>
            <a:ext cx="11114581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/>
              <a:t>1. Component-Based Architecture</a:t>
            </a:r>
          </a:p>
          <a:p>
            <a:r>
              <a:rPr lang="en-US" sz="1600" dirty="0"/>
              <a:t>Uses </a:t>
            </a:r>
          </a:p>
          <a:p>
            <a:r>
              <a:rPr lang="en-US" sz="1600" b="1" dirty="0"/>
              <a:t>modular development</a:t>
            </a:r>
            <a:r>
              <a:rPr lang="en-US" sz="1600" dirty="0"/>
              <a:t>, making it easier to structure and reuse UI components.</a:t>
            </a:r>
          </a:p>
          <a:p>
            <a:r>
              <a:rPr lang="en-US" sz="1600" dirty="0"/>
              <a:t>Reduces repetitive code and improves maintainability.</a:t>
            </a:r>
          </a:p>
          <a:p>
            <a:endParaRPr lang="en-US" sz="1600" dirty="0"/>
          </a:p>
          <a:p>
            <a:r>
              <a:rPr lang="en-US" sz="1600" b="1" dirty="0"/>
              <a:t>2. Virtual DOM for Optimized Performance</a:t>
            </a:r>
          </a:p>
          <a:p>
            <a:r>
              <a:rPr lang="en-US" sz="1600" dirty="0" err="1"/>
              <a:t>React’s</a:t>
            </a:r>
            <a:r>
              <a:rPr lang="en-US" sz="1600" dirty="0"/>
              <a:t> </a:t>
            </a:r>
            <a:r>
              <a:rPr lang="en-US" sz="1600" b="1" dirty="0"/>
              <a:t>Virtual DOM</a:t>
            </a:r>
            <a:r>
              <a:rPr lang="en-US" sz="1600" dirty="0"/>
              <a:t> efficiently updates only the changed parts of the UI instead of re-rendering the entire DOM.</a:t>
            </a:r>
          </a:p>
          <a:p>
            <a:r>
              <a:rPr lang="en-US" sz="1600" dirty="0"/>
              <a:t>This leads to </a:t>
            </a:r>
            <a:r>
              <a:rPr lang="en-US" sz="1600" b="1" dirty="0"/>
              <a:t>faster UI updates and better responsiveness</a:t>
            </a:r>
            <a:r>
              <a:rPr lang="en-US" sz="1600" dirty="0"/>
              <a:t> within Power Apps.</a:t>
            </a:r>
          </a:p>
          <a:p>
            <a:endParaRPr lang="en-US" sz="1600" dirty="0"/>
          </a:p>
          <a:p>
            <a:r>
              <a:rPr lang="en-US" sz="1600" b="1" dirty="0"/>
              <a:t>3. Code Reusability</a:t>
            </a:r>
          </a:p>
          <a:p>
            <a:r>
              <a:rPr lang="en-US" sz="1600" dirty="0"/>
              <a:t>Developers can reuse React components </a:t>
            </a:r>
            <a:r>
              <a:rPr lang="en-US" sz="1600" b="1" dirty="0"/>
              <a:t>across different PCF controls</a:t>
            </a:r>
            <a:r>
              <a:rPr lang="en-US" sz="1600" dirty="0"/>
              <a:t>.</a:t>
            </a:r>
          </a:p>
          <a:p>
            <a:r>
              <a:rPr lang="en-US" sz="1600" dirty="0"/>
              <a:t>Encourages </a:t>
            </a:r>
            <a:r>
              <a:rPr lang="en-US" sz="1600" b="1" dirty="0"/>
              <a:t>consistent UI patterns</a:t>
            </a:r>
            <a:r>
              <a:rPr lang="en-US" sz="1600" dirty="0"/>
              <a:t> across multiple PowerApps implementations.</a:t>
            </a:r>
          </a:p>
          <a:p>
            <a:endParaRPr lang="en-US" sz="1600" dirty="0"/>
          </a:p>
          <a:p>
            <a:r>
              <a:rPr lang="en-US" sz="1600" b="1" dirty="0"/>
              <a:t>4. Seamless Integration with Power Apps Libraries</a:t>
            </a:r>
          </a:p>
          <a:p>
            <a:r>
              <a:rPr lang="en-US" sz="1600" dirty="0"/>
              <a:t>Power Apps provides </a:t>
            </a:r>
            <a:r>
              <a:rPr lang="en-US" sz="1600" b="1" dirty="0"/>
              <a:t>preloaded platform libraries</a:t>
            </a:r>
            <a:r>
              <a:rPr lang="en-US" sz="1600" dirty="0"/>
              <a:t> for </a:t>
            </a:r>
            <a:r>
              <a:rPr lang="en-US" sz="1600" b="1" dirty="0"/>
              <a:t>React and Fluent UI</a:t>
            </a:r>
            <a:r>
              <a:rPr lang="en-US" sz="1600" dirty="0"/>
              <a:t>, eliminating the need to bundle them separately.</a:t>
            </a:r>
          </a:p>
          <a:p>
            <a:r>
              <a:rPr lang="en-US" sz="1600" dirty="0"/>
              <a:t>This results in </a:t>
            </a:r>
            <a:r>
              <a:rPr lang="en-US" sz="1600" b="1" dirty="0"/>
              <a:t>smaller control sizes and quicker load times</a:t>
            </a:r>
            <a:r>
              <a:rPr lang="en-US" sz="1600" dirty="0"/>
              <a:t>.</a:t>
            </a:r>
          </a:p>
          <a:p>
            <a:endParaRPr lang="en-US" sz="1600" dirty="0"/>
          </a:p>
          <a:p>
            <a:r>
              <a:rPr lang="en-US" sz="1600" b="1" dirty="0"/>
              <a:t>5. Rich UI and Accessibility via Fluent UI</a:t>
            </a:r>
          </a:p>
          <a:p>
            <a:r>
              <a:rPr lang="en-US" sz="1600" dirty="0"/>
              <a:t>Fluent UI offers </a:t>
            </a:r>
            <a:r>
              <a:rPr lang="en-US" sz="1600" b="1" dirty="0"/>
              <a:t>enterprise-grade UI components</a:t>
            </a:r>
            <a:r>
              <a:rPr lang="en-US" sz="1600" dirty="0"/>
              <a:t> that align with </a:t>
            </a:r>
            <a:r>
              <a:rPr lang="en-US" sz="1600" b="1" dirty="0"/>
              <a:t>Microsoft’s design principles</a:t>
            </a:r>
            <a:r>
              <a:rPr lang="en-US" sz="1600" dirty="0"/>
              <a:t>.</a:t>
            </a:r>
          </a:p>
          <a:p>
            <a:r>
              <a:rPr lang="en-US" sz="1600" dirty="0"/>
              <a:t>Improves </a:t>
            </a:r>
            <a:r>
              <a:rPr lang="en-US" sz="1600" b="1" dirty="0"/>
              <a:t>user experience</a:t>
            </a:r>
            <a:r>
              <a:rPr lang="en-US" sz="1600" dirty="0"/>
              <a:t> and ensures </a:t>
            </a:r>
            <a:r>
              <a:rPr lang="en-US" sz="1600" b="1" dirty="0"/>
              <a:t>accessibility compliance</a:t>
            </a:r>
            <a:r>
              <a:rPr lang="en-US" sz="1600" dirty="0"/>
              <a:t>.</a:t>
            </a:r>
          </a:p>
          <a:p>
            <a:endParaRPr lang="en-US" sz="1600" dirty="0"/>
          </a:p>
          <a:p>
            <a:r>
              <a:rPr lang="en-US" sz="1600" b="1" dirty="0"/>
              <a:t>6. Future-Proofing</a:t>
            </a:r>
          </a:p>
          <a:p>
            <a:r>
              <a:rPr lang="en-US" sz="1600" dirty="0"/>
              <a:t>React continues to evolve, ensuring </a:t>
            </a:r>
            <a:r>
              <a:rPr lang="en-US" sz="1600" b="1" dirty="0"/>
              <a:t>long-term support</a:t>
            </a:r>
            <a:r>
              <a:rPr lang="en-US" sz="1600" dirty="0"/>
              <a:t>.</a:t>
            </a:r>
          </a:p>
          <a:p>
            <a:r>
              <a:rPr lang="en-US" sz="1600" dirty="0"/>
              <a:t>Its active community and ecosystem make it a </a:t>
            </a:r>
            <a:r>
              <a:rPr lang="en-US" sz="1600" b="1" dirty="0"/>
              <a:t>reliable choice</a:t>
            </a:r>
            <a:r>
              <a:rPr lang="en-US" sz="1600" dirty="0"/>
              <a:t> for PCF controls.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E16D52-1255-6D66-4B09-696D047CA75D}"/>
              </a:ext>
            </a:extLst>
          </p:cNvPr>
          <p:cNvSpPr txBox="1"/>
          <p:nvPr/>
        </p:nvSpPr>
        <p:spPr>
          <a:xfrm>
            <a:off x="2743201" y="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2800" dirty="0"/>
              <a:t>React PCF</a:t>
            </a:r>
          </a:p>
        </p:txBody>
      </p:sp>
    </p:spTree>
    <p:extLst>
      <p:ext uri="{BB962C8B-B14F-4D97-AF65-F5344CB8AC3E}">
        <p14:creationId xmlns:p14="http://schemas.microsoft.com/office/powerpoint/2010/main" val="22303230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FAC3445-C476-490D-9B46-91CA0A13D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322628" cy="6781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450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D3FAC36-3FEE-9A1D-2B5F-020A4EF6BFC6}"/>
              </a:ext>
            </a:extLst>
          </p:cNvPr>
          <p:cNvSpPr txBox="1"/>
          <p:nvPr/>
        </p:nvSpPr>
        <p:spPr>
          <a:xfrm>
            <a:off x="1816712" y="422933"/>
            <a:ext cx="9046029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800" b="1" dirty="0"/>
              <a:t>Goal:</a:t>
            </a:r>
            <a:r>
              <a:rPr lang="en-US" sz="2800" dirty="0"/>
              <a:t> Build a </a:t>
            </a:r>
            <a:r>
              <a:rPr lang="en-US" sz="2800" dirty="0" err="1"/>
              <a:t>Facepile</a:t>
            </a:r>
            <a:r>
              <a:rPr lang="en-US" sz="2800" dirty="0"/>
              <a:t> component in PCF using React &amp; Fluent UI. </a:t>
            </a:r>
          </a:p>
          <a:p>
            <a:pPr>
              <a:buNone/>
            </a:pPr>
            <a:endParaRPr lang="en-US" sz="2800" b="1" dirty="0"/>
          </a:p>
          <a:p>
            <a:pPr>
              <a:buNone/>
            </a:pPr>
            <a:r>
              <a:rPr lang="en-US" sz="2800" b="1" dirty="0"/>
              <a:t>Key Features: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Display user avatars.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Custom styling &amp; interactions.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/>
          </a:p>
          <a:p>
            <a:r>
              <a:rPr lang="en-US" sz="2800" b="1" dirty="0"/>
              <a:t>Use Case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endParaRPr lang="en-US" sz="2800" dirty="0"/>
          </a:p>
          <a:p>
            <a:endParaRPr lang="en-SG" sz="2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0F2588C-013F-CC95-8F29-454D2499C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412" y="3965738"/>
            <a:ext cx="4679588" cy="24693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995DCA4-5B98-A7A1-AE36-C254A8FA5F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3199" y="3965738"/>
            <a:ext cx="4311872" cy="3501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0469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109EDE-E1E1-31C8-DE19-A06723417AE2}"/>
              </a:ext>
            </a:extLst>
          </p:cNvPr>
          <p:cNvSpPr txBox="1"/>
          <p:nvPr/>
        </p:nvSpPr>
        <p:spPr>
          <a:xfrm>
            <a:off x="1894114" y="2786742"/>
            <a:ext cx="8763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4400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0018824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606B7B-C47D-2C92-FCC9-EAC7DB3BE685}"/>
              </a:ext>
            </a:extLst>
          </p:cNvPr>
          <p:cNvSpPr txBox="1"/>
          <p:nvPr/>
        </p:nvSpPr>
        <p:spPr>
          <a:xfrm>
            <a:off x="3102429" y="2144486"/>
            <a:ext cx="598714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8000" dirty="0"/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28594265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7325</TotalTime>
  <Words>557</Words>
  <Application>Microsoft Office PowerPoint</Application>
  <PresentationFormat>Widescreen</PresentationFormat>
  <Paragraphs>72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__Inter_a184c8</vt:lpstr>
      <vt:lpstr>Aptos</vt:lpstr>
      <vt:lpstr>Aptos Display</vt:lpstr>
      <vt:lpstr>Arial</vt:lpstr>
      <vt:lpstr>Calibri</vt:lpstr>
      <vt:lpstr>ui-monospace</vt:lpstr>
      <vt:lpstr>Office Theme</vt:lpstr>
      <vt:lpstr>PowerPoint Presentation</vt:lpstr>
      <vt:lpstr>Pavan Mani Deep Y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yaragani pavan mani deep</dc:creator>
  <cp:lastModifiedBy>Pavan Mani Deep Yaragani</cp:lastModifiedBy>
  <cp:revision>13</cp:revision>
  <dcterms:created xsi:type="dcterms:W3CDTF">2025-02-10T14:14:11Z</dcterms:created>
  <dcterms:modified xsi:type="dcterms:W3CDTF">2025-06-14T08:56:49Z</dcterms:modified>
</cp:coreProperties>
</file>