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314" r:id="rId3"/>
    <p:sldId id="257" r:id="rId4"/>
    <p:sldId id="281" r:id="rId5"/>
    <p:sldId id="316" r:id="rId6"/>
    <p:sldId id="258" r:id="rId7"/>
    <p:sldId id="261" r:id="rId8"/>
    <p:sldId id="276" r:id="rId9"/>
    <p:sldId id="256" r:id="rId10"/>
    <p:sldId id="278" r:id="rId11"/>
    <p:sldId id="31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3323E4-3AAD-497A-8BB8-82B32F878DB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046FE7-27AB-4F0B-A585-3AF3A5341EAE}">
      <dgm:prSet/>
      <dgm:spPr/>
      <dgm:t>
        <a:bodyPr/>
        <a:lstStyle/>
        <a:p>
          <a:r>
            <a:rPr lang="en-US" dirty="0"/>
            <a:t>Unified endpoint → One Foundry project endpoint to access multiple models, tools, and MCP servers.</a:t>
          </a:r>
        </a:p>
      </dgm:t>
    </dgm:pt>
    <dgm:pt modelId="{68886584-F899-437F-BD49-17C404630B8C}" type="parTrans" cxnId="{493F74A4-7695-49D2-A070-D25CCC432530}">
      <dgm:prSet/>
      <dgm:spPr/>
      <dgm:t>
        <a:bodyPr/>
        <a:lstStyle/>
        <a:p>
          <a:endParaRPr lang="en-US"/>
        </a:p>
      </dgm:t>
    </dgm:pt>
    <dgm:pt modelId="{A374F967-EAD4-42F9-8379-752F01B4F74C}" type="sibTrans" cxnId="{493F74A4-7695-49D2-A070-D25CCC432530}">
      <dgm:prSet/>
      <dgm:spPr/>
      <dgm:t>
        <a:bodyPr/>
        <a:lstStyle/>
        <a:p>
          <a:endParaRPr lang="en-US"/>
        </a:p>
      </dgm:t>
    </dgm:pt>
    <dgm:pt modelId="{6215103A-40D5-4FA0-959F-7A3A029F19BF}">
      <dgm:prSet/>
      <dgm:spPr/>
      <dgm:t>
        <a:bodyPr/>
        <a:lstStyle/>
        <a:p>
          <a:r>
            <a:rPr lang="en-US"/>
            <a:t>Governance + compliance → Built‑in RBAC, logging, and audit trails for enterprise security.</a:t>
          </a:r>
        </a:p>
      </dgm:t>
    </dgm:pt>
    <dgm:pt modelId="{E91705A1-02D4-440D-97D1-3AC032573E82}" type="parTrans" cxnId="{E0B8E51E-4F7F-4C72-BE5B-1313720A5710}">
      <dgm:prSet/>
      <dgm:spPr/>
      <dgm:t>
        <a:bodyPr/>
        <a:lstStyle/>
        <a:p>
          <a:endParaRPr lang="en-US"/>
        </a:p>
      </dgm:t>
    </dgm:pt>
    <dgm:pt modelId="{1D64C2FC-2516-4C9B-A852-C9871FF5B6F6}" type="sibTrans" cxnId="{E0B8E51E-4F7F-4C72-BE5B-1313720A5710}">
      <dgm:prSet/>
      <dgm:spPr/>
      <dgm:t>
        <a:bodyPr/>
        <a:lstStyle/>
        <a:p>
          <a:endParaRPr lang="en-US"/>
        </a:p>
      </dgm:t>
    </dgm:pt>
    <dgm:pt modelId="{40696E13-3815-49A1-B279-649FA2B6FCAB}">
      <dgm:prSet/>
      <dgm:spPr/>
      <dgm:t>
        <a:bodyPr/>
        <a:lstStyle/>
        <a:p>
          <a:r>
            <a:rPr lang="en-US"/>
            <a:t>Agent orchestration → Combine models, MCP servers, and workflows into intelligent agents.</a:t>
          </a:r>
        </a:p>
      </dgm:t>
    </dgm:pt>
    <dgm:pt modelId="{0566D539-B3C2-4B21-B568-9CEFE08CC765}" type="parTrans" cxnId="{011C9E96-02C4-451D-B1CE-A57DCAA1D5BC}">
      <dgm:prSet/>
      <dgm:spPr/>
      <dgm:t>
        <a:bodyPr/>
        <a:lstStyle/>
        <a:p>
          <a:endParaRPr lang="en-US"/>
        </a:p>
      </dgm:t>
    </dgm:pt>
    <dgm:pt modelId="{F378C194-8B19-43C8-9C0F-EE3144F6B1EF}" type="sibTrans" cxnId="{011C9E96-02C4-451D-B1CE-A57DCAA1D5BC}">
      <dgm:prSet/>
      <dgm:spPr/>
      <dgm:t>
        <a:bodyPr/>
        <a:lstStyle/>
        <a:p>
          <a:endParaRPr lang="en-US"/>
        </a:p>
      </dgm:t>
    </dgm:pt>
    <dgm:pt modelId="{DB201A79-A9CC-4FC4-8E26-434F852B5C74}">
      <dgm:prSet/>
      <dgm:spPr/>
      <dgm:t>
        <a:bodyPr/>
        <a:lstStyle/>
        <a:p>
          <a:r>
            <a:rPr lang="en-US"/>
            <a:t>Knowledge grounding → Native RAG support to ground answers in enterprise data.</a:t>
          </a:r>
        </a:p>
      </dgm:t>
    </dgm:pt>
    <dgm:pt modelId="{5F3CBD23-69B9-4AB9-8692-4A1B1EE41EE6}" type="parTrans" cxnId="{B8D935DA-FCBF-4AB2-94AF-DCF91DCB530C}">
      <dgm:prSet/>
      <dgm:spPr/>
      <dgm:t>
        <a:bodyPr/>
        <a:lstStyle/>
        <a:p>
          <a:endParaRPr lang="en-US"/>
        </a:p>
      </dgm:t>
    </dgm:pt>
    <dgm:pt modelId="{DC151C51-3188-4E74-8EBA-1725A2CA875E}" type="sibTrans" cxnId="{B8D935DA-FCBF-4AB2-94AF-DCF91DCB530C}">
      <dgm:prSet/>
      <dgm:spPr/>
      <dgm:t>
        <a:bodyPr/>
        <a:lstStyle/>
        <a:p>
          <a:endParaRPr lang="en-US"/>
        </a:p>
      </dgm:t>
    </dgm:pt>
    <dgm:pt modelId="{AA07419D-8260-43E4-A08E-DAA4DCD3A2DD}">
      <dgm:prSet/>
      <dgm:spPr/>
      <dgm:t>
        <a:bodyPr/>
        <a:lstStyle/>
        <a:p>
          <a:r>
            <a:rPr lang="en-US"/>
            <a:t>Versioning + lifecycle → Manage upgrades, rollbacks, and pinned versions seamlessly.</a:t>
          </a:r>
        </a:p>
      </dgm:t>
    </dgm:pt>
    <dgm:pt modelId="{BFC3F863-0A7F-4A66-810F-504A60962421}" type="parTrans" cxnId="{938A193B-7115-49E0-8105-B71E3DAA23D9}">
      <dgm:prSet/>
      <dgm:spPr/>
      <dgm:t>
        <a:bodyPr/>
        <a:lstStyle/>
        <a:p>
          <a:endParaRPr lang="en-US"/>
        </a:p>
      </dgm:t>
    </dgm:pt>
    <dgm:pt modelId="{DEA923E8-55E6-4D04-8875-C42C2DD8210C}" type="sibTrans" cxnId="{938A193B-7115-49E0-8105-B71E3DAA23D9}">
      <dgm:prSet/>
      <dgm:spPr/>
      <dgm:t>
        <a:bodyPr/>
        <a:lstStyle/>
        <a:p>
          <a:endParaRPr lang="en-US"/>
        </a:p>
      </dgm:t>
    </dgm:pt>
    <dgm:pt modelId="{FA42BDED-3124-49AF-A039-3A8C47B1A7D6}">
      <dgm:prSet/>
      <dgm:spPr/>
      <dgm:t>
        <a:bodyPr/>
        <a:lstStyle/>
        <a:p>
          <a:r>
            <a:rPr lang="en-US"/>
            <a:t>Cross‑service integration → Direct integration with Power Apps, Copilot Studio, and M365 Copilot.</a:t>
          </a:r>
        </a:p>
      </dgm:t>
    </dgm:pt>
    <dgm:pt modelId="{4E91C013-D070-4BD6-AE74-B428B98ACBF1}" type="parTrans" cxnId="{0347958D-27A5-4285-B38B-50E800185301}">
      <dgm:prSet/>
      <dgm:spPr/>
      <dgm:t>
        <a:bodyPr/>
        <a:lstStyle/>
        <a:p>
          <a:endParaRPr lang="en-US"/>
        </a:p>
      </dgm:t>
    </dgm:pt>
    <dgm:pt modelId="{7B8F8EFA-41E1-4EBA-9925-C643C6A95B16}" type="sibTrans" cxnId="{0347958D-27A5-4285-B38B-50E800185301}">
      <dgm:prSet/>
      <dgm:spPr/>
      <dgm:t>
        <a:bodyPr/>
        <a:lstStyle/>
        <a:p>
          <a:endParaRPr lang="en-US"/>
        </a:p>
      </dgm:t>
    </dgm:pt>
    <dgm:pt modelId="{615D5F52-1610-4A09-9536-F5DA70D2554D}" type="pres">
      <dgm:prSet presAssocID="{673323E4-3AAD-497A-8BB8-82B32F878DB7}" presName="Name0" presStyleCnt="0">
        <dgm:presLayoutVars>
          <dgm:dir/>
          <dgm:resizeHandles val="exact"/>
        </dgm:presLayoutVars>
      </dgm:prSet>
      <dgm:spPr/>
    </dgm:pt>
    <dgm:pt modelId="{E921211F-FFAF-4553-A11E-193CC246B8C0}" type="pres">
      <dgm:prSet presAssocID="{5A046FE7-27AB-4F0B-A585-3AF3A5341EAE}" presName="node" presStyleLbl="node1" presStyleIdx="0" presStyleCnt="6">
        <dgm:presLayoutVars>
          <dgm:bulletEnabled val="1"/>
        </dgm:presLayoutVars>
      </dgm:prSet>
      <dgm:spPr/>
    </dgm:pt>
    <dgm:pt modelId="{C8CA9192-9E68-4C3C-BF63-6A01CF0375F6}" type="pres">
      <dgm:prSet presAssocID="{A374F967-EAD4-42F9-8379-752F01B4F74C}" presName="sibTrans" presStyleLbl="sibTrans1D1" presStyleIdx="0" presStyleCnt="5"/>
      <dgm:spPr/>
    </dgm:pt>
    <dgm:pt modelId="{5CC39132-B2C2-45CC-9AEF-DA143D788159}" type="pres">
      <dgm:prSet presAssocID="{A374F967-EAD4-42F9-8379-752F01B4F74C}" presName="connectorText" presStyleLbl="sibTrans1D1" presStyleIdx="0" presStyleCnt="5"/>
      <dgm:spPr/>
    </dgm:pt>
    <dgm:pt modelId="{72ECD393-FC4E-4385-9D9E-6D4627E3E480}" type="pres">
      <dgm:prSet presAssocID="{6215103A-40D5-4FA0-959F-7A3A029F19BF}" presName="node" presStyleLbl="node1" presStyleIdx="1" presStyleCnt="6">
        <dgm:presLayoutVars>
          <dgm:bulletEnabled val="1"/>
        </dgm:presLayoutVars>
      </dgm:prSet>
      <dgm:spPr/>
    </dgm:pt>
    <dgm:pt modelId="{00D2FCC0-7392-4CEB-B415-100679BE1773}" type="pres">
      <dgm:prSet presAssocID="{1D64C2FC-2516-4C9B-A852-C9871FF5B6F6}" presName="sibTrans" presStyleLbl="sibTrans1D1" presStyleIdx="1" presStyleCnt="5"/>
      <dgm:spPr/>
    </dgm:pt>
    <dgm:pt modelId="{EE97EA80-3591-4EB8-BFB5-6A284F1079F9}" type="pres">
      <dgm:prSet presAssocID="{1D64C2FC-2516-4C9B-A852-C9871FF5B6F6}" presName="connectorText" presStyleLbl="sibTrans1D1" presStyleIdx="1" presStyleCnt="5"/>
      <dgm:spPr/>
    </dgm:pt>
    <dgm:pt modelId="{082B8C9B-E0B2-4CBA-8609-B02FC4C2E9AC}" type="pres">
      <dgm:prSet presAssocID="{40696E13-3815-49A1-B279-649FA2B6FCAB}" presName="node" presStyleLbl="node1" presStyleIdx="2" presStyleCnt="6">
        <dgm:presLayoutVars>
          <dgm:bulletEnabled val="1"/>
        </dgm:presLayoutVars>
      </dgm:prSet>
      <dgm:spPr/>
    </dgm:pt>
    <dgm:pt modelId="{B9067386-D573-4966-AACC-745DC040FD8E}" type="pres">
      <dgm:prSet presAssocID="{F378C194-8B19-43C8-9C0F-EE3144F6B1EF}" presName="sibTrans" presStyleLbl="sibTrans1D1" presStyleIdx="2" presStyleCnt="5"/>
      <dgm:spPr/>
    </dgm:pt>
    <dgm:pt modelId="{D7515DEF-A89C-4B1C-B90B-CAF6AADB5FAA}" type="pres">
      <dgm:prSet presAssocID="{F378C194-8B19-43C8-9C0F-EE3144F6B1EF}" presName="connectorText" presStyleLbl="sibTrans1D1" presStyleIdx="2" presStyleCnt="5"/>
      <dgm:spPr/>
    </dgm:pt>
    <dgm:pt modelId="{50DF3AFC-D7FB-4400-8DB6-1D4AF5142ED8}" type="pres">
      <dgm:prSet presAssocID="{DB201A79-A9CC-4FC4-8E26-434F852B5C74}" presName="node" presStyleLbl="node1" presStyleIdx="3" presStyleCnt="6">
        <dgm:presLayoutVars>
          <dgm:bulletEnabled val="1"/>
        </dgm:presLayoutVars>
      </dgm:prSet>
      <dgm:spPr/>
    </dgm:pt>
    <dgm:pt modelId="{0906D3FF-EAE2-4DE0-9076-B9C7416B2FE7}" type="pres">
      <dgm:prSet presAssocID="{DC151C51-3188-4E74-8EBA-1725A2CA875E}" presName="sibTrans" presStyleLbl="sibTrans1D1" presStyleIdx="3" presStyleCnt="5"/>
      <dgm:spPr/>
    </dgm:pt>
    <dgm:pt modelId="{B69F2540-B550-48EA-8990-310C7CB198BC}" type="pres">
      <dgm:prSet presAssocID="{DC151C51-3188-4E74-8EBA-1725A2CA875E}" presName="connectorText" presStyleLbl="sibTrans1D1" presStyleIdx="3" presStyleCnt="5"/>
      <dgm:spPr/>
    </dgm:pt>
    <dgm:pt modelId="{7CC2C2EC-72FE-4AEE-99C3-3B7A37D41D7E}" type="pres">
      <dgm:prSet presAssocID="{AA07419D-8260-43E4-A08E-DAA4DCD3A2DD}" presName="node" presStyleLbl="node1" presStyleIdx="4" presStyleCnt="6">
        <dgm:presLayoutVars>
          <dgm:bulletEnabled val="1"/>
        </dgm:presLayoutVars>
      </dgm:prSet>
      <dgm:spPr/>
    </dgm:pt>
    <dgm:pt modelId="{CFF28F96-C3C4-4EC4-8F75-A79130D8FF4F}" type="pres">
      <dgm:prSet presAssocID="{DEA923E8-55E6-4D04-8875-C42C2DD8210C}" presName="sibTrans" presStyleLbl="sibTrans1D1" presStyleIdx="4" presStyleCnt="5"/>
      <dgm:spPr/>
    </dgm:pt>
    <dgm:pt modelId="{4751D91E-3CA4-4D9D-A929-6488BA4CC770}" type="pres">
      <dgm:prSet presAssocID="{DEA923E8-55E6-4D04-8875-C42C2DD8210C}" presName="connectorText" presStyleLbl="sibTrans1D1" presStyleIdx="4" presStyleCnt="5"/>
      <dgm:spPr/>
    </dgm:pt>
    <dgm:pt modelId="{87C7C38D-37E5-496C-9351-8B5C6E15ECDB}" type="pres">
      <dgm:prSet presAssocID="{FA42BDED-3124-49AF-A039-3A8C47B1A7D6}" presName="node" presStyleLbl="node1" presStyleIdx="5" presStyleCnt="6">
        <dgm:presLayoutVars>
          <dgm:bulletEnabled val="1"/>
        </dgm:presLayoutVars>
      </dgm:prSet>
      <dgm:spPr/>
    </dgm:pt>
  </dgm:ptLst>
  <dgm:cxnLst>
    <dgm:cxn modelId="{E0B8E51E-4F7F-4C72-BE5B-1313720A5710}" srcId="{673323E4-3AAD-497A-8BB8-82B32F878DB7}" destId="{6215103A-40D5-4FA0-959F-7A3A029F19BF}" srcOrd="1" destOrd="0" parTransId="{E91705A1-02D4-440D-97D1-3AC032573E82}" sibTransId="{1D64C2FC-2516-4C9B-A852-C9871FF5B6F6}"/>
    <dgm:cxn modelId="{6B9A2321-397B-4FED-9186-BB6FCFF20597}" type="presOf" srcId="{DC151C51-3188-4E74-8EBA-1725A2CA875E}" destId="{0906D3FF-EAE2-4DE0-9076-B9C7416B2FE7}" srcOrd="0" destOrd="0" presId="urn:microsoft.com/office/officeart/2016/7/layout/RepeatingBendingProcessNew"/>
    <dgm:cxn modelId="{AA0C3329-234D-4889-8906-5CDA600C959F}" type="presOf" srcId="{673323E4-3AAD-497A-8BB8-82B32F878DB7}" destId="{615D5F52-1610-4A09-9536-F5DA70D2554D}" srcOrd="0" destOrd="0" presId="urn:microsoft.com/office/officeart/2016/7/layout/RepeatingBendingProcessNew"/>
    <dgm:cxn modelId="{938A193B-7115-49E0-8105-B71E3DAA23D9}" srcId="{673323E4-3AAD-497A-8BB8-82B32F878DB7}" destId="{AA07419D-8260-43E4-A08E-DAA4DCD3A2DD}" srcOrd="4" destOrd="0" parTransId="{BFC3F863-0A7F-4A66-810F-504A60962421}" sibTransId="{DEA923E8-55E6-4D04-8875-C42C2DD8210C}"/>
    <dgm:cxn modelId="{8A963942-AA6B-4E3A-82E6-A18D96AE8369}" type="presOf" srcId="{5A046FE7-27AB-4F0B-A585-3AF3A5341EAE}" destId="{E921211F-FFAF-4553-A11E-193CC246B8C0}" srcOrd="0" destOrd="0" presId="urn:microsoft.com/office/officeart/2016/7/layout/RepeatingBendingProcessNew"/>
    <dgm:cxn modelId="{C1729578-BD97-4B2B-85A4-C3296C7EE8F2}" type="presOf" srcId="{DC151C51-3188-4E74-8EBA-1725A2CA875E}" destId="{B69F2540-B550-48EA-8990-310C7CB198BC}" srcOrd="1" destOrd="0" presId="urn:microsoft.com/office/officeart/2016/7/layout/RepeatingBendingProcessNew"/>
    <dgm:cxn modelId="{D164FF59-F03F-4468-A9CA-C6F9028C52E8}" type="presOf" srcId="{AA07419D-8260-43E4-A08E-DAA4DCD3A2DD}" destId="{7CC2C2EC-72FE-4AEE-99C3-3B7A37D41D7E}" srcOrd="0" destOrd="0" presId="urn:microsoft.com/office/officeart/2016/7/layout/RepeatingBendingProcessNew"/>
    <dgm:cxn modelId="{20276488-0DC7-4EFA-9A86-F58E45F03681}" type="presOf" srcId="{DEA923E8-55E6-4D04-8875-C42C2DD8210C}" destId="{4751D91E-3CA4-4D9D-A929-6488BA4CC770}" srcOrd="1" destOrd="0" presId="urn:microsoft.com/office/officeart/2016/7/layout/RepeatingBendingProcessNew"/>
    <dgm:cxn modelId="{6FC09D8C-C10B-4B44-8764-E099EA7106BB}" type="presOf" srcId="{F378C194-8B19-43C8-9C0F-EE3144F6B1EF}" destId="{B9067386-D573-4966-AACC-745DC040FD8E}" srcOrd="0" destOrd="0" presId="urn:microsoft.com/office/officeart/2016/7/layout/RepeatingBendingProcessNew"/>
    <dgm:cxn modelId="{0347958D-27A5-4285-B38B-50E800185301}" srcId="{673323E4-3AAD-497A-8BB8-82B32F878DB7}" destId="{FA42BDED-3124-49AF-A039-3A8C47B1A7D6}" srcOrd="5" destOrd="0" parTransId="{4E91C013-D070-4BD6-AE74-B428B98ACBF1}" sibTransId="{7B8F8EFA-41E1-4EBA-9925-C643C6A95B16}"/>
    <dgm:cxn modelId="{DBF0D693-D6E8-4917-AD88-C0E65AF55672}" type="presOf" srcId="{DB201A79-A9CC-4FC4-8E26-434F852B5C74}" destId="{50DF3AFC-D7FB-4400-8DB6-1D4AF5142ED8}" srcOrd="0" destOrd="0" presId="urn:microsoft.com/office/officeart/2016/7/layout/RepeatingBendingProcessNew"/>
    <dgm:cxn modelId="{011C9E96-02C4-451D-B1CE-A57DCAA1D5BC}" srcId="{673323E4-3AAD-497A-8BB8-82B32F878DB7}" destId="{40696E13-3815-49A1-B279-649FA2B6FCAB}" srcOrd="2" destOrd="0" parTransId="{0566D539-B3C2-4B21-B568-9CEFE08CC765}" sibTransId="{F378C194-8B19-43C8-9C0F-EE3144F6B1EF}"/>
    <dgm:cxn modelId="{493F74A4-7695-49D2-A070-D25CCC432530}" srcId="{673323E4-3AAD-497A-8BB8-82B32F878DB7}" destId="{5A046FE7-27AB-4F0B-A585-3AF3A5341EAE}" srcOrd="0" destOrd="0" parTransId="{68886584-F899-437F-BD49-17C404630B8C}" sibTransId="{A374F967-EAD4-42F9-8379-752F01B4F74C}"/>
    <dgm:cxn modelId="{4E45BCB6-E6FE-49DE-BE7D-FB405905EA47}" type="presOf" srcId="{1D64C2FC-2516-4C9B-A852-C9871FF5B6F6}" destId="{EE97EA80-3591-4EB8-BFB5-6A284F1079F9}" srcOrd="1" destOrd="0" presId="urn:microsoft.com/office/officeart/2016/7/layout/RepeatingBendingProcessNew"/>
    <dgm:cxn modelId="{746064D4-CAE8-4E95-9C13-B4C3D7FDB3A9}" type="presOf" srcId="{A374F967-EAD4-42F9-8379-752F01B4F74C}" destId="{C8CA9192-9E68-4C3C-BF63-6A01CF0375F6}" srcOrd="0" destOrd="0" presId="urn:microsoft.com/office/officeart/2016/7/layout/RepeatingBendingProcessNew"/>
    <dgm:cxn modelId="{C4FEEFD4-D2E3-4BEC-A57F-0DB0B144B9D3}" type="presOf" srcId="{40696E13-3815-49A1-B279-649FA2B6FCAB}" destId="{082B8C9B-E0B2-4CBA-8609-B02FC4C2E9AC}" srcOrd="0" destOrd="0" presId="urn:microsoft.com/office/officeart/2016/7/layout/RepeatingBendingProcessNew"/>
    <dgm:cxn modelId="{B8D935DA-FCBF-4AB2-94AF-DCF91DCB530C}" srcId="{673323E4-3AAD-497A-8BB8-82B32F878DB7}" destId="{DB201A79-A9CC-4FC4-8E26-434F852B5C74}" srcOrd="3" destOrd="0" parTransId="{5F3CBD23-69B9-4AB9-8692-4A1B1EE41EE6}" sibTransId="{DC151C51-3188-4E74-8EBA-1725A2CA875E}"/>
    <dgm:cxn modelId="{FA97B7DE-3D75-4C5F-A227-B8648F585C20}" type="presOf" srcId="{6215103A-40D5-4FA0-959F-7A3A029F19BF}" destId="{72ECD393-FC4E-4385-9D9E-6D4627E3E480}" srcOrd="0" destOrd="0" presId="urn:microsoft.com/office/officeart/2016/7/layout/RepeatingBendingProcessNew"/>
    <dgm:cxn modelId="{1C05F3E3-2AB0-4ED0-8944-A68B8F3A194F}" type="presOf" srcId="{F378C194-8B19-43C8-9C0F-EE3144F6B1EF}" destId="{D7515DEF-A89C-4B1C-B90B-CAF6AADB5FAA}" srcOrd="1" destOrd="0" presId="urn:microsoft.com/office/officeart/2016/7/layout/RepeatingBendingProcessNew"/>
    <dgm:cxn modelId="{579B3EF0-FB48-4382-B559-4FAD8EEF6F3E}" type="presOf" srcId="{FA42BDED-3124-49AF-A039-3A8C47B1A7D6}" destId="{87C7C38D-37E5-496C-9351-8B5C6E15ECDB}" srcOrd="0" destOrd="0" presId="urn:microsoft.com/office/officeart/2016/7/layout/RepeatingBendingProcessNew"/>
    <dgm:cxn modelId="{73B9E7F6-4317-44DF-AC08-D3FA61751FF8}" type="presOf" srcId="{DEA923E8-55E6-4D04-8875-C42C2DD8210C}" destId="{CFF28F96-C3C4-4EC4-8F75-A79130D8FF4F}" srcOrd="0" destOrd="0" presId="urn:microsoft.com/office/officeart/2016/7/layout/RepeatingBendingProcessNew"/>
    <dgm:cxn modelId="{C07EEAF9-0A83-4C8F-AE44-9BA10B6F4DF6}" type="presOf" srcId="{A374F967-EAD4-42F9-8379-752F01B4F74C}" destId="{5CC39132-B2C2-45CC-9AEF-DA143D788159}" srcOrd="1" destOrd="0" presId="urn:microsoft.com/office/officeart/2016/7/layout/RepeatingBendingProcessNew"/>
    <dgm:cxn modelId="{EED28CFC-EA46-450B-93D0-DC1CC5AE0A4B}" type="presOf" srcId="{1D64C2FC-2516-4C9B-A852-C9871FF5B6F6}" destId="{00D2FCC0-7392-4CEB-B415-100679BE1773}" srcOrd="0" destOrd="0" presId="urn:microsoft.com/office/officeart/2016/7/layout/RepeatingBendingProcessNew"/>
    <dgm:cxn modelId="{9CBAC7A7-3C12-4F34-9AE5-B7E07B5BF051}" type="presParOf" srcId="{615D5F52-1610-4A09-9536-F5DA70D2554D}" destId="{E921211F-FFAF-4553-A11E-193CC246B8C0}" srcOrd="0" destOrd="0" presId="urn:microsoft.com/office/officeart/2016/7/layout/RepeatingBendingProcessNew"/>
    <dgm:cxn modelId="{07E0B4A1-9743-42B4-9438-C1FF8CE5C754}" type="presParOf" srcId="{615D5F52-1610-4A09-9536-F5DA70D2554D}" destId="{C8CA9192-9E68-4C3C-BF63-6A01CF0375F6}" srcOrd="1" destOrd="0" presId="urn:microsoft.com/office/officeart/2016/7/layout/RepeatingBendingProcessNew"/>
    <dgm:cxn modelId="{0F0BE842-7498-49D8-A837-365161BD3AA9}" type="presParOf" srcId="{C8CA9192-9E68-4C3C-BF63-6A01CF0375F6}" destId="{5CC39132-B2C2-45CC-9AEF-DA143D788159}" srcOrd="0" destOrd="0" presId="urn:microsoft.com/office/officeart/2016/7/layout/RepeatingBendingProcessNew"/>
    <dgm:cxn modelId="{A704DAF6-9177-4B58-806B-A1731EE502D7}" type="presParOf" srcId="{615D5F52-1610-4A09-9536-F5DA70D2554D}" destId="{72ECD393-FC4E-4385-9D9E-6D4627E3E480}" srcOrd="2" destOrd="0" presId="urn:microsoft.com/office/officeart/2016/7/layout/RepeatingBendingProcessNew"/>
    <dgm:cxn modelId="{E22DDF07-0EE9-4ED8-92DF-D469038264F3}" type="presParOf" srcId="{615D5F52-1610-4A09-9536-F5DA70D2554D}" destId="{00D2FCC0-7392-4CEB-B415-100679BE1773}" srcOrd="3" destOrd="0" presId="urn:microsoft.com/office/officeart/2016/7/layout/RepeatingBendingProcessNew"/>
    <dgm:cxn modelId="{46BC4287-70A0-473A-B534-1210F9D8F0BF}" type="presParOf" srcId="{00D2FCC0-7392-4CEB-B415-100679BE1773}" destId="{EE97EA80-3591-4EB8-BFB5-6A284F1079F9}" srcOrd="0" destOrd="0" presId="urn:microsoft.com/office/officeart/2016/7/layout/RepeatingBendingProcessNew"/>
    <dgm:cxn modelId="{4E1E43DB-526C-442E-B46E-82687926E68A}" type="presParOf" srcId="{615D5F52-1610-4A09-9536-F5DA70D2554D}" destId="{082B8C9B-E0B2-4CBA-8609-B02FC4C2E9AC}" srcOrd="4" destOrd="0" presId="urn:microsoft.com/office/officeart/2016/7/layout/RepeatingBendingProcessNew"/>
    <dgm:cxn modelId="{C8D39552-4E62-469E-9DDF-2AA6CDC00C65}" type="presParOf" srcId="{615D5F52-1610-4A09-9536-F5DA70D2554D}" destId="{B9067386-D573-4966-AACC-745DC040FD8E}" srcOrd="5" destOrd="0" presId="urn:microsoft.com/office/officeart/2016/7/layout/RepeatingBendingProcessNew"/>
    <dgm:cxn modelId="{24B205DB-E42B-44AE-A42D-8287837F2F31}" type="presParOf" srcId="{B9067386-D573-4966-AACC-745DC040FD8E}" destId="{D7515DEF-A89C-4B1C-B90B-CAF6AADB5FAA}" srcOrd="0" destOrd="0" presId="urn:microsoft.com/office/officeart/2016/7/layout/RepeatingBendingProcessNew"/>
    <dgm:cxn modelId="{FCE0F6DB-46A8-4507-BBBE-688624E8BC7E}" type="presParOf" srcId="{615D5F52-1610-4A09-9536-F5DA70D2554D}" destId="{50DF3AFC-D7FB-4400-8DB6-1D4AF5142ED8}" srcOrd="6" destOrd="0" presId="urn:microsoft.com/office/officeart/2016/7/layout/RepeatingBendingProcessNew"/>
    <dgm:cxn modelId="{4BC7254F-06F2-42BB-8624-CC8C07EF0D37}" type="presParOf" srcId="{615D5F52-1610-4A09-9536-F5DA70D2554D}" destId="{0906D3FF-EAE2-4DE0-9076-B9C7416B2FE7}" srcOrd="7" destOrd="0" presId="urn:microsoft.com/office/officeart/2016/7/layout/RepeatingBendingProcessNew"/>
    <dgm:cxn modelId="{37479156-D1F5-4E5F-83DC-C5D0F4B07853}" type="presParOf" srcId="{0906D3FF-EAE2-4DE0-9076-B9C7416B2FE7}" destId="{B69F2540-B550-48EA-8990-310C7CB198BC}" srcOrd="0" destOrd="0" presId="urn:microsoft.com/office/officeart/2016/7/layout/RepeatingBendingProcessNew"/>
    <dgm:cxn modelId="{A14C57CB-1479-47A2-BECB-198DC53247DE}" type="presParOf" srcId="{615D5F52-1610-4A09-9536-F5DA70D2554D}" destId="{7CC2C2EC-72FE-4AEE-99C3-3B7A37D41D7E}" srcOrd="8" destOrd="0" presId="urn:microsoft.com/office/officeart/2016/7/layout/RepeatingBendingProcessNew"/>
    <dgm:cxn modelId="{57FF1FEB-1F4C-4D10-8CF4-F8889153C37C}" type="presParOf" srcId="{615D5F52-1610-4A09-9536-F5DA70D2554D}" destId="{CFF28F96-C3C4-4EC4-8F75-A79130D8FF4F}" srcOrd="9" destOrd="0" presId="urn:microsoft.com/office/officeart/2016/7/layout/RepeatingBendingProcessNew"/>
    <dgm:cxn modelId="{B38CA0B3-BCF9-4474-80F7-913FB4DC61D9}" type="presParOf" srcId="{CFF28F96-C3C4-4EC4-8F75-A79130D8FF4F}" destId="{4751D91E-3CA4-4D9D-A929-6488BA4CC770}" srcOrd="0" destOrd="0" presId="urn:microsoft.com/office/officeart/2016/7/layout/RepeatingBendingProcessNew"/>
    <dgm:cxn modelId="{A7F871F3-450E-499A-A86B-262E24FDE84C}" type="presParOf" srcId="{615D5F52-1610-4A09-9536-F5DA70D2554D}" destId="{87C7C38D-37E5-496C-9351-8B5C6E15ECD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A9192-9E68-4C3C-BF63-6A01CF0375F6}">
      <dsp:nvSpPr>
        <dsp:cNvPr id="0" name=""/>
        <dsp:cNvSpPr/>
      </dsp:nvSpPr>
      <dsp:spPr>
        <a:xfrm>
          <a:off x="2492297" y="614811"/>
          <a:ext cx="4747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471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7024" y="658004"/>
        <a:ext cx="25265" cy="5053"/>
      </dsp:txXfrm>
    </dsp:sp>
    <dsp:sp modelId="{E921211F-FFAF-4553-A11E-193CC246B8C0}">
      <dsp:nvSpPr>
        <dsp:cNvPr id="0" name=""/>
        <dsp:cNvSpPr/>
      </dsp:nvSpPr>
      <dsp:spPr>
        <a:xfrm>
          <a:off x="297060" y="1420"/>
          <a:ext cx="2197037" cy="13182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Unified endpoint → One Foundry project endpoint to access multiple models, tools, and MCP servers.</a:t>
          </a:r>
        </a:p>
      </dsp:txBody>
      <dsp:txXfrm>
        <a:off x="297060" y="1420"/>
        <a:ext cx="2197037" cy="1318222"/>
      </dsp:txXfrm>
    </dsp:sp>
    <dsp:sp modelId="{00D2FCC0-7392-4CEB-B415-100679BE1773}">
      <dsp:nvSpPr>
        <dsp:cNvPr id="0" name=""/>
        <dsp:cNvSpPr/>
      </dsp:nvSpPr>
      <dsp:spPr>
        <a:xfrm>
          <a:off x="5194654" y="614811"/>
          <a:ext cx="4747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471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9380" y="658004"/>
        <a:ext cx="25265" cy="5053"/>
      </dsp:txXfrm>
    </dsp:sp>
    <dsp:sp modelId="{72ECD393-FC4E-4385-9D9E-6D4627E3E480}">
      <dsp:nvSpPr>
        <dsp:cNvPr id="0" name=""/>
        <dsp:cNvSpPr/>
      </dsp:nvSpPr>
      <dsp:spPr>
        <a:xfrm>
          <a:off x="2999416" y="1420"/>
          <a:ext cx="2197037" cy="13182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Governance + compliance → Built‑in RBAC, logging, and audit trails for enterprise security.</a:t>
          </a:r>
        </a:p>
      </dsp:txBody>
      <dsp:txXfrm>
        <a:off x="2999416" y="1420"/>
        <a:ext cx="2197037" cy="1318222"/>
      </dsp:txXfrm>
    </dsp:sp>
    <dsp:sp modelId="{B9067386-D573-4966-AACC-745DC040FD8E}">
      <dsp:nvSpPr>
        <dsp:cNvPr id="0" name=""/>
        <dsp:cNvSpPr/>
      </dsp:nvSpPr>
      <dsp:spPr>
        <a:xfrm>
          <a:off x="1395579" y="1317842"/>
          <a:ext cx="5404712" cy="474718"/>
        </a:xfrm>
        <a:custGeom>
          <a:avLst/>
          <a:gdLst/>
          <a:ahLst/>
          <a:cxnLst/>
          <a:rect l="0" t="0" r="0" b="0"/>
          <a:pathLst>
            <a:path>
              <a:moveTo>
                <a:pt x="5404712" y="0"/>
              </a:moveTo>
              <a:lnTo>
                <a:pt x="5404712" y="254459"/>
              </a:lnTo>
              <a:lnTo>
                <a:pt x="0" y="254459"/>
              </a:lnTo>
              <a:lnTo>
                <a:pt x="0" y="47471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2228" y="1552675"/>
        <a:ext cx="271414" cy="5053"/>
      </dsp:txXfrm>
    </dsp:sp>
    <dsp:sp modelId="{082B8C9B-E0B2-4CBA-8609-B02FC4C2E9AC}">
      <dsp:nvSpPr>
        <dsp:cNvPr id="0" name=""/>
        <dsp:cNvSpPr/>
      </dsp:nvSpPr>
      <dsp:spPr>
        <a:xfrm>
          <a:off x="5701773" y="1420"/>
          <a:ext cx="2197037" cy="13182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Agent orchestration → Combine models, MCP servers, and workflows into intelligent agents.</a:t>
          </a:r>
        </a:p>
      </dsp:txBody>
      <dsp:txXfrm>
        <a:off x="5701773" y="1420"/>
        <a:ext cx="2197037" cy="1318222"/>
      </dsp:txXfrm>
    </dsp:sp>
    <dsp:sp modelId="{0906D3FF-EAE2-4DE0-9076-B9C7416B2FE7}">
      <dsp:nvSpPr>
        <dsp:cNvPr id="0" name=""/>
        <dsp:cNvSpPr/>
      </dsp:nvSpPr>
      <dsp:spPr>
        <a:xfrm>
          <a:off x="2492297" y="2438352"/>
          <a:ext cx="4747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471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7024" y="2481546"/>
        <a:ext cx="25265" cy="5053"/>
      </dsp:txXfrm>
    </dsp:sp>
    <dsp:sp modelId="{50DF3AFC-D7FB-4400-8DB6-1D4AF5142ED8}">
      <dsp:nvSpPr>
        <dsp:cNvPr id="0" name=""/>
        <dsp:cNvSpPr/>
      </dsp:nvSpPr>
      <dsp:spPr>
        <a:xfrm>
          <a:off x="297060" y="1824961"/>
          <a:ext cx="2197037" cy="13182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Knowledge grounding → Native RAG support to ground answers in enterprise data.</a:t>
          </a:r>
        </a:p>
      </dsp:txBody>
      <dsp:txXfrm>
        <a:off x="297060" y="1824961"/>
        <a:ext cx="2197037" cy="1318222"/>
      </dsp:txXfrm>
    </dsp:sp>
    <dsp:sp modelId="{CFF28F96-C3C4-4EC4-8F75-A79130D8FF4F}">
      <dsp:nvSpPr>
        <dsp:cNvPr id="0" name=""/>
        <dsp:cNvSpPr/>
      </dsp:nvSpPr>
      <dsp:spPr>
        <a:xfrm>
          <a:off x="5194654" y="2438352"/>
          <a:ext cx="4747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4718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9380" y="2481546"/>
        <a:ext cx="25265" cy="5053"/>
      </dsp:txXfrm>
    </dsp:sp>
    <dsp:sp modelId="{7CC2C2EC-72FE-4AEE-99C3-3B7A37D41D7E}">
      <dsp:nvSpPr>
        <dsp:cNvPr id="0" name=""/>
        <dsp:cNvSpPr/>
      </dsp:nvSpPr>
      <dsp:spPr>
        <a:xfrm>
          <a:off x="2999416" y="1824961"/>
          <a:ext cx="2197037" cy="131822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Versioning + lifecycle → Manage upgrades, rollbacks, and pinned versions seamlessly.</a:t>
          </a:r>
        </a:p>
      </dsp:txBody>
      <dsp:txXfrm>
        <a:off x="2999416" y="1824961"/>
        <a:ext cx="2197037" cy="1318222"/>
      </dsp:txXfrm>
    </dsp:sp>
    <dsp:sp modelId="{87C7C38D-37E5-496C-9351-8B5C6E15ECDB}">
      <dsp:nvSpPr>
        <dsp:cNvPr id="0" name=""/>
        <dsp:cNvSpPr/>
      </dsp:nvSpPr>
      <dsp:spPr>
        <a:xfrm>
          <a:off x="5701773" y="1824961"/>
          <a:ext cx="2197037" cy="13182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657" tIns="113005" rIns="107657" bIns="113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Cross‑service integration → Direct integration with Power Apps, Copilot Studio, and M365 Copilot.</a:t>
          </a:r>
        </a:p>
      </dsp:txBody>
      <dsp:txXfrm>
        <a:off x="5701773" y="1824961"/>
        <a:ext cx="2197037" cy="1318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49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5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EC9954-0227-E36A-678E-32C3D8DDD97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2643188" y="63500"/>
            <a:ext cx="3883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This Email / Document has been classified as Public by Pavan Yaragani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7E80B-2ABF-CCD2-500A-8181D0C032C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98963" y="49276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3947-0533-0FCC-C0C4-D4C8CAB4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31E694D1-58C8-9FCE-92A2-60A520D19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8DC67-9444-E81C-AEAB-2F88D6A9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52338"/>
            <a:ext cx="3451124" cy="3451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C31FD0-0C7A-A08C-9A64-F8CE1A3E8687}"/>
              </a:ext>
            </a:extLst>
          </p:cNvPr>
          <p:cNvSpPr txBox="1"/>
          <p:nvPr/>
        </p:nvSpPr>
        <p:spPr>
          <a:xfrm>
            <a:off x="2849902" y="4770300"/>
            <a:ext cx="1332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200" dirty="0">
                <a:solidFill>
                  <a:srgbClr val="FFFFFF"/>
                </a:solidFill>
                <a:latin typeface="Lufga" panose="00000500000000000000" pitchFamily="50" charset="0"/>
              </a:rPr>
              <a:t>Sponsored by:</a:t>
            </a:r>
            <a:endParaRPr lang="en-US" sz="1200" dirty="0">
              <a:latin typeface="Lufga" panose="00000500000000000000" pitchFamily="50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23C1DB-1276-71CA-E8C2-A69B51012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149" y="3913498"/>
            <a:ext cx="684528" cy="6806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64B0E7-79C4-C8AC-87FE-675D6A0C8ADC}"/>
              </a:ext>
            </a:extLst>
          </p:cNvPr>
          <p:cNvSpPr txBox="1"/>
          <p:nvPr/>
        </p:nvSpPr>
        <p:spPr>
          <a:xfrm>
            <a:off x="4107956" y="4755799"/>
            <a:ext cx="23679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  <a:latin typeface="Lufga" panose="020B0604020202020204" charset="0"/>
              </a:rPr>
              <a:t>Singapore AI &amp; Agents UG</a:t>
            </a:r>
            <a:endParaRPr lang="en-SG" sz="1350" b="1" dirty="0">
              <a:solidFill>
                <a:schemeClr val="bg1"/>
              </a:solidFill>
              <a:latin typeface="Lufga" panose="020B0604020202020204" charset="0"/>
            </a:endParaRPr>
          </a:p>
        </p:txBody>
      </p:sp>
      <p:pic>
        <p:nvPicPr>
          <p:cNvPr id="19" name="Graphic 18" descr="Right pointing backhand index">
            <a:extLst>
              <a:ext uri="{FF2B5EF4-FFF2-40B4-BE49-F238E27FC236}">
                <a16:creationId xmlns:a16="http://schemas.microsoft.com/office/drawing/2014/main" id="{F2E66CA3-D2D1-E0E1-02D2-C5EFEF250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4985" y="4342429"/>
            <a:ext cx="282591" cy="2825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923BB27-44F7-2BAD-2F80-64F806BF636E}"/>
              </a:ext>
            </a:extLst>
          </p:cNvPr>
          <p:cNvSpPr txBox="1"/>
          <p:nvPr/>
        </p:nvSpPr>
        <p:spPr>
          <a:xfrm>
            <a:off x="6949880" y="4371105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Lufga" panose="020B0604020202020204" charset="0"/>
              </a:rPr>
              <a:t>Register Here</a:t>
            </a:r>
            <a:endParaRPr lang="en-SG" sz="1200" dirty="0">
              <a:solidFill>
                <a:schemeClr val="bg1"/>
              </a:solidFill>
              <a:latin typeface="Lufga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1667E-A4DF-D6A2-D272-4178669FDD51}"/>
              </a:ext>
            </a:extLst>
          </p:cNvPr>
          <p:cNvSpPr txBox="1"/>
          <p:nvPr/>
        </p:nvSpPr>
        <p:spPr>
          <a:xfrm>
            <a:off x="1112502" y="4277924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Lufga" panose="00000500000000000000" pitchFamily="50" charset="0"/>
              </a:rPr>
              <a:t>01:15 PM – 02:00 PM SGT</a:t>
            </a:r>
          </a:p>
        </p:txBody>
      </p:sp>
      <p:pic>
        <p:nvPicPr>
          <p:cNvPr id="21" name="Picture 20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19207E8C-246E-33F1-2EDF-FA1680F0D3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57" y="4317255"/>
            <a:ext cx="138831" cy="1388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C8A2A0-F2A5-4774-BF39-24471B1A544D}"/>
              </a:ext>
            </a:extLst>
          </p:cNvPr>
          <p:cNvSpPr txBox="1"/>
          <p:nvPr/>
        </p:nvSpPr>
        <p:spPr>
          <a:xfrm>
            <a:off x="790898" y="3313192"/>
            <a:ext cx="23006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latin typeface="Lufga" panose="00000500000000000000" pitchFamily="50" charset="0"/>
              </a:rPr>
              <a:t>Pavan Mani Deep Yaragani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63584-632E-C899-1899-CCDC17CBF081}"/>
              </a:ext>
            </a:extLst>
          </p:cNvPr>
          <p:cNvSpPr txBox="1"/>
          <p:nvPr/>
        </p:nvSpPr>
        <p:spPr>
          <a:xfrm>
            <a:off x="620541" y="3686757"/>
            <a:ext cx="2661306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25" dirty="0">
                <a:solidFill>
                  <a:schemeClr val="bg1"/>
                </a:solidFill>
                <a:latin typeface="Lufga" panose="00000500000000000000" pitchFamily="50" charset="0"/>
              </a:rPr>
              <a:t>Agentify Your Apps: Bringing Azure AI </a:t>
            </a:r>
          </a:p>
          <a:p>
            <a:pPr algn="ctr"/>
            <a:r>
              <a:rPr lang="en-US" sz="1125" dirty="0">
                <a:solidFill>
                  <a:schemeClr val="bg1"/>
                </a:solidFill>
                <a:latin typeface="Lufga" panose="00000500000000000000" pitchFamily="50" charset="0"/>
              </a:rPr>
              <a:t>Foundry Agents into Power Apps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BB2EBB-9BD4-C39F-BC24-97B425FBEC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46"/>
          <a:stretch>
            <a:fillRect/>
          </a:stretch>
        </p:blipFill>
        <p:spPr>
          <a:xfrm>
            <a:off x="1075472" y="1509421"/>
            <a:ext cx="1701805" cy="165733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4295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27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2" indent="-342892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Microsoft MVP (2024, 2025) in Power Apps</a:t>
            </a:r>
            <a:endParaRPr lang="en-US" sz="1350" dirty="0"/>
          </a:p>
          <a:p>
            <a:pPr marL="342892" indent="-342892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Currently at </a:t>
            </a:r>
            <a:r>
              <a:rPr lang="en-US" sz="13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NeoSoft</a:t>
            </a: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, Dubai, United Arab Emirates</a:t>
            </a:r>
            <a:endParaRPr lang="en-US" sz="1350" b="1" dirty="0"/>
          </a:p>
          <a:p>
            <a:pPr marL="342892" indent="-342892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Focus: Model Driven Apps, Deployments CI/CD Automation, Cloud Architecture</a:t>
            </a:r>
            <a:endParaRPr lang="en-US" sz="1350" dirty="0"/>
          </a:p>
        </p:txBody>
      </p: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F991924F-9A86-8370-ABEF-B65073D1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935" y="3120008"/>
            <a:ext cx="1270065" cy="1337037"/>
          </a:xfrm>
          <a:prstGeom prst="rect">
            <a:avLst/>
          </a:prstGeom>
        </p:spPr>
      </p:pic>
      <p:pic>
        <p:nvPicPr>
          <p:cNvPr id="19" name="Picture 18" descr="A blue circle with white text and blue diamond with white text&#10;&#10;AI-generated content may be incorrect.">
            <a:extLst>
              <a:ext uri="{FF2B5EF4-FFF2-40B4-BE49-F238E27FC236}">
                <a16:creationId xmlns:a16="http://schemas.microsoft.com/office/drawing/2014/main" id="{0ED8B4E4-4733-7670-BA1E-AFD70101F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292" y="3120009"/>
            <a:ext cx="1890149" cy="1404011"/>
          </a:xfrm>
          <a:prstGeom prst="rect">
            <a:avLst/>
          </a:prstGeom>
        </p:spPr>
      </p:pic>
      <p:pic>
        <p:nvPicPr>
          <p:cNvPr id="21" name="Picture 20" descr="A blue and white logo&#10;&#10;AI-generated content may be incorrect.">
            <a:extLst>
              <a:ext uri="{FF2B5EF4-FFF2-40B4-BE49-F238E27FC236}">
                <a16:creationId xmlns:a16="http://schemas.microsoft.com/office/drawing/2014/main" id="{D7F40B92-8E47-5F50-C2C6-64D2980D6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436" y="3196862"/>
            <a:ext cx="1270065" cy="1270065"/>
          </a:xfrm>
          <a:prstGeom prst="rect">
            <a:avLst/>
          </a:prstGeom>
        </p:spPr>
      </p:pic>
      <p:pic>
        <p:nvPicPr>
          <p:cNvPr id="23" name="Picture 22" descr="A blue and white logo with white text&#10;&#10;AI-generated content may be incorrect.">
            <a:extLst>
              <a:ext uri="{FF2B5EF4-FFF2-40B4-BE49-F238E27FC236}">
                <a16:creationId xmlns:a16="http://schemas.microsoft.com/office/drawing/2014/main" id="{11B3F1D5-440A-7C30-606A-E2EA295C4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186" y="3129889"/>
            <a:ext cx="1270065" cy="1270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5AA5FE-6372-4C02-49B5-D0611AEC8F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" y="4732040"/>
            <a:ext cx="5114383" cy="4751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6F5A55-0817-71FC-A00A-0524A9E4EA9A}"/>
              </a:ext>
            </a:extLst>
          </p:cNvPr>
          <p:cNvSpPr txBox="1"/>
          <p:nvPr/>
        </p:nvSpPr>
        <p:spPr>
          <a:xfrm>
            <a:off x="6601097" y="4767424"/>
            <a:ext cx="200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#AgentCamp 2026</a:t>
            </a:r>
          </a:p>
        </p:txBody>
      </p:sp>
      <p:pic>
        <p:nvPicPr>
          <p:cNvPr id="1026" name="Picture 2" descr="Agentic AI Consulting ...">
            <a:extLst>
              <a:ext uri="{FF2B5EF4-FFF2-40B4-BE49-F238E27FC236}">
                <a16:creationId xmlns:a16="http://schemas.microsoft.com/office/drawing/2014/main" id="{416D4699-0607-5FF3-6022-05D7E5DB9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24" y="3196862"/>
            <a:ext cx="1544873" cy="129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icrosoft Foundry Blog">
            <a:extLst>
              <a:ext uri="{FF2B5EF4-FFF2-40B4-BE49-F238E27FC236}">
                <a16:creationId xmlns:a16="http://schemas.microsoft.com/office/drawing/2014/main" id="{3DC438B1-1E8C-E38A-26C1-86D2E0CD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7" y="4796978"/>
            <a:ext cx="405250" cy="31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AI Foundry?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50E6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enterprise AI platform for building, deploying &amp; managing AI agents at scale.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2011680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78D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365760" y="1828800"/>
            <a:ext cx="201168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grounded in your own data &amp; processes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14600" y="1828800"/>
            <a:ext cx="2011680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2514600" y="1828800"/>
            <a:ext cx="2011680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057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0604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606040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latest OpenAI &amp; Azure AI models out of the box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1828800"/>
            <a:ext cx="2011680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07C1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4663440" y="1828800"/>
            <a:ext cx="2011680" cy="10972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057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Grounding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54880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SharePoint, Dataverse, SQL &amp; more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812280" y="1828800"/>
            <a:ext cx="2011680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C7243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5" name="Shape 19"/>
          <p:cNvSpPr/>
          <p:nvPr/>
        </p:nvSpPr>
        <p:spPr>
          <a:xfrm>
            <a:off x="6812280" y="1828800"/>
            <a:ext cx="2011680" cy="109728"/>
          </a:xfrm>
          <a:prstGeom prst="rect">
            <a:avLst/>
          </a:prstGeom>
          <a:solidFill>
            <a:srgbClr val="C7243A"/>
          </a:solidFill>
          <a:ln w="12700">
            <a:solidFill>
              <a:srgbClr val="C7243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057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903720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governed, auditable &amp; scalable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4CAFD60-9C44-BA03-BDA9-2F9D35BF9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821664"/>
            <a:ext cx="9144000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136CE-0E6D-2AA3-38FA-23F125A35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953"/>
            <a:ext cx="9144000" cy="346547"/>
          </a:xfrm>
          <a:prstGeom prst="rect">
            <a:avLst/>
          </a:prstGeom>
        </p:spPr>
      </p:pic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DCE22067-DAF8-3496-71EA-86C8CB8C4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5056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38589D-13D4-14D5-3A70-F48E212C7818}"/>
              </a:ext>
            </a:extLst>
          </p:cNvPr>
          <p:cNvSpPr txBox="1"/>
          <p:nvPr/>
        </p:nvSpPr>
        <p:spPr>
          <a:xfrm>
            <a:off x="1071154" y="513806"/>
            <a:ext cx="3892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AI </a:t>
            </a:r>
            <a:r>
              <a:rPr lang="en-SG">
                <a:solidFill>
                  <a:schemeClr val="bg1"/>
                </a:solidFill>
              </a:rPr>
              <a:t>Foundry Features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6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0A5FA"/>
                </a:solidFill>
              </a:rPr>
              <a:t>POWER PLATFORM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Without vs With Azure AI Foundry — The Business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164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60520" cy="4169664"/>
          </a:xfrm>
          <a:prstGeom prst="rect">
            <a:avLst/>
          </a:prstGeom>
          <a:solidFill>
            <a:srgbClr val="1A0A0A"/>
          </a:solidFill>
          <a:ln w="9525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64008" cy="41696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160520" cy="4169664"/>
          </a:xfrm>
          <a:prstGeom prst="rect">
            <a:avLst/>
          </a:prstGeom>
          <a:solidFill>
            <a:srgbClr val="0A1A12"/>
          </a:solidFill>
          <a:ln w="9525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64008" cy="41696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0467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804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Without Foundry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8046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804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With Foundry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0040" y="1115568"/>
            <a:ext cx="3977640" cy="0"/>
          </a:xfrm>
          <a:prstGeom prst="line">
            <a:avLst/>
          </a:prstGeom>
          <a:noFill/>
          <a:ln w="635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4846320" y="1115568"/>
            <a:ext cx="397764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272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1225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Dataverse = data store only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03504" y="1435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Holds records. Cannot answer questions.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52728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38928" y="1225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Dataverse = grounded AI knowledge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5138928" y="1435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Every record is queryable in natural language.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320040" y="1645920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17"/>
          <p:cNvSpPr/>
          <p:nvPr/>
        </p:nvSpPr>
        <p:spPr>
          <a:xfrm>
            <a:off x="4846320" y="1645920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18"/>
          <p:cNvSpPr/>
          <p:nvPr/>
        </p:nvSpPr>
        <p:spPr>
          <a:xfrm>
            <a:off x="292608" y="1655064"/>
            <a:ext cx="4032504" cy="493776"/>
          </a:xfrm>
          <a:prstGeom prst="rect">
            <a:avLst/>
          </a:prstGeom>
          <a:solidFill>
            <a:srgbClr val="1F0808">
              <a:alpha val="60000"/>
            </a:srgbClr>
          </a:solidFill>
          <a:ln w="12700">
            <a:solidFill>
              <a:srgbClr val="1F080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19"/>
          <p:cNvSpPr/>
          <p:nvPr/>
        </p:nvSpPr>
        <p:spPr>
          <a:xfrm>
            <a:off x="4818888" y="1655064"/>
            <a:ext cx="4032504" cy="493776"/>
          </a:xfrm>
          <a:prstGeom prst="rect">
            <a:avLst/>
          </a:prstGeom>
          <a:solidFill>
            <a:srgbClr val="081F10">
              <a:alpha val="60000"/>
            </a:srgbClr>
          </a:solidFill>
          <a:ln w="12700">
            <a:solidFill>
              <a:srgbClr val="081F1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46504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3504" y="1719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Power Apps = form + filter tool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603504" y="1929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Users navigate to data manually.</a:t>
            </a:r>
            <a:endParaRPr lang="en-US" sz="8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46504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38928" y="1719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Power Apps = intelligent assistant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5138928" y="1929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Users describe what they need; app retrieves &amp; synthesises.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320040" y="2139696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25"/>
          <p:cNvSpPr/>
          <p:nvPr/>
        </p:nvSpPr>
        <p:spPr>
          <a:xfrm>
            <a:off x="4846320" y="2139696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40280"/>
            <a:ext cx="182880" cy="1828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03504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Flows = rule-based routing only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603504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 understanding of unstructured content.</a:t>
            </a:r>
            <a:endParaRPr lang="en-US" sz="8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138928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Flows = context-aware automation</a:t>
            </a:r>
            <a:endParaRPr lang="en-US" sz="950" dirty="0"/>
          </a:p>
        </p:txBody>
      </p:sp>
      <p:sp>
        <p:nvSpPr>
          <p:cNvPr id="42" name="Text 29"/>
          <p:cNvSpPr/>
          <p:nvPr/>
        </p:nvSpPr>
        <p:spPr>
          <a:xfrm>
            <a:off x="5138928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Classifies, enriches, and decides on every trigger.</a:t>
            </a:r>
            <a:endParaRPr lang="en-US" sz="800" dirty="0"/>
          </a:p>
        </p:txBody>
      </p:sp>
      <p:sp>
        <p:nvSpPr>
          <p:cNvPr id="43" name="Shape 30"/>
          <p:cNvSpPr/>
          <p:nvPr/>
        </p:nvSpPr>
        <p:spPr>
          <a:xfrm>
            <a:off x="320040" y="2633472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Shape 31"/>
          <p:cNvSpPr/>
          <p:nvPr/>
        </p:nvSpPr>
        <p:spPr>
          <a:xfrm>
            <a:off x="4846320" y="2633472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Shape 32"/>
          <p:cNvSpPr/>
          <p:nvPr/>
        </p:nvSpPr>
        <p:spPr>
          <a:xfrm>
            <a:off x="292608" y="2642616"/>
            <a:ext cx="4032504" cy="493776"/>
          </a:xfrm>
          <a:prstGeom prst="rect">
            <a:avLst/>
          </a:prstGeom>
          <a:solidFill>
            <a:srgbClr val="1F0808">
              <a:alpha val="60000"/>
            </a:srgbClr>
          </a:solidFill>
          <a:ln w="12700">
            <a:solidFill>
              <a:srgbClr val="1F080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Shape 33"/>
          <p:cNvSpPr/>
          <p:nvPr/>
        </p:nvSpPr>
        <p:spPr>
          <a:xfrm>
            <a:off x="4818888" y="2642616"/>
            <a:ext cx="4032504" cy="493776"/>
          </a:xfrm>
          <a:prstGeom prst="rect">
            <a:avLst/>
          </a:prstGeom>
          <a:solidFill>
            <a:srgbClr val="081F10">
              <a:alpha val="60000"/>
            </a:srgbClr>
          </a:solidFill>
          <a:ln w="12700">
            <a:solidFill>
              <a:srgbClr val="081F1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34056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03504" y="2706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Knowledge locked in files &amp; people</a:t>
            </a:r>
            <a:endParaRPr lang="en-US" sz="950" dirty="0"/>
          </a:p>
        </p:txBody>
      </p:sp>
      <p:sp>
        <p:nvSpPr>
          <p:cNvPr id="50" name="Text 35"/>
          <p:cNvSpPr/>
          <p:nvPr/>
        </p:nvSpPr>
        <p:spPr>
          <a:xfrm>
            <a:off x="603504" y="2916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New staff spend weeks finding answers.</a:t>
            </a:r>
            <a:endParaRPr lang="en-US" sz="8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34056"/>
            <a:ext cx="182880" cy="18288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5138928" y="2706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Knowledge surfaced instantly via RAG</a:t>
            </a:r>
            <a:endParaRPr lang="en-US" sz="950" dirty="0"/>
          </a:p>
        </p:txBody>
      </p:sp>
      <p:sp>
        <p:nvSpPr>
          <p:cNvPr id="53" name="Text 37"/>
          <p:cNvSpPr/>
          <p:nvPr/>
        </p:nvSpPr>
        <p:spPr>
          <a:xfrm>
            <a:off x="5138928" y="2916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SharePoint + Dataverse answered in seconds.</a:t>
            </a:r>
            <a:endParaRPr lang="en-US" sz="800" dirty="0"/>
          </a:p>
        </p:txBody>
      </p:sp>
      <p:sp>
        <p:nvSpPr>
          <p:cNvPr id="54" name="Shape 38"/>
          <p:cNvSpPr/>
          <p:nvPr/>
        </p:nvSpPr>
        <p:spPr>
          <a:xfrm>
            <a:off x="320040" y="3127248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Shape 39"/>
          <p:cNvSpPr/>
          <p:nvPr/>
        </p:nvSpPr>
        <p:spPr>
          <a:xfrm>
            <a:off x="4846320" y="3127248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27832"/>
            <a:ext cx="182880" cy="18288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603504" y="3200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Manual classification &amp; enrichment</a:t>
            </a:r>
            <a:endParaRPr lang="en-US" sz="950" dirty="0"/>
          </a:p>
        </p:txBody>
      </p:sp>
      <p:sp>
        <p:nvSpPr>
          <p:cNvPr id="59" name="Text 41"/>
          <p:cNvSpPr/>
          <p:nvPr/>
        </p:nvSpPr>
        <p:spPr>
          <a:xfrm>
            <a:off x="603504" y="3410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Every exception requires human intervention.</a:t>
            </a:r>
            <a:endParaRPr lang="en-US" sz="8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27832"/>
            <a:ext cx="182880" cy="182880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5138928" y="3200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Auto-classification on record create</a:t>
            </a:r>
            <a:endParaRPr lang="en-US" sz="950" dirty="0"/>
          </a:p>
        </p:txBody>
      </p:sp>
      <p:sp>
        <p:nvSpPr>
          <p:cNvPr id="62" name="Text 43"/>
          <p:cNvSpPr/>
          <p:nvPr/>
        </p:nvSpPr>
        <p:spPr>
          <a:xfrm>
            <a:off x="5138928" y="3410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Foundry enriches before anyone opens the record.</a:t>
            </a:r>
            <a:endParaRPr lang="en-US" sz="800" dirty="0"/>
          </a:p>
        </p:txBody>
      </p:sp>
      <p:sp>
        <p:nvSpPr>
          <p:cNvPr id="63" name="Shape 44"/>
          <p:cNvSpPr/>
          <p:nvPr/>
        </p:nvSpPr>
        <p:spPr>
          <a:xfrm>
            <a:off x="320040" y="3621024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45"/>
          <p:cNvSpPr/>
          <p:nvPr/>
        </p:nvSpPr>
        <p:spPr>
          <a:xfrm>
            <a:off x="4846320" y="3621024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46"/>
          <p:cNvSpPr/>
          <p:nvPr/>
        </p:nvSpPr>
        <p:spPr>
          <a:xfrm>
            <a:off x="292608" y="3630168"/>
            <a:ext cx="4032504" cy="493776"/>
          </a:xfrm>
          <a:prstGeom prst="rect">
            <a:avLst/>
          </a:prstGeom>
          <a:solidFill>
            <a:srgbClr val="1F0808">
              <a:alpha val="60000"/>
            </a:srgbClr>
          </a:solidFill>
          <a:ln w="12700">
            <a:solidFill>
              <a:srgbClr val="1F080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Shape 47"/>
          <p:cNvSpPr/>
          <p:nvPr/>
        </p:nvSpPr>
        <p:spPr>
          <a:xfrm>
            <a:off x="4818888" y="3630168"/>
            <a:ext cx="4032504" cy="493776"/>
          </a:xfrm>
          <a:prstGeom prst="rect">
            <a:avLst/>
          </a:prstGeom>
          <a:solidFill>
            <a:srgbClr val="081F10">
              <a:alpha val="60000"/>
            </a:srgbClr>
          </a:solidFill>
          <a:ln w="12700">
            <a:solidFill>
              <a:srgbClr val="081F1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21608"/>
            <a:ext cx="182880" cy="182880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603504" y="3694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Decisions take hours to days</a:t>
            </a:r>
            <a:endParaRPr lang="en-US" sz="950" dirty="0"/>
          </a:p>
        </p:txBody>
      </p:sp>
      <p:sp>
        <p:nvSpPr>
          <p:cNvPr id="70" name="Text 49"/>
          <p:cNvSpPr/>
          <p:nvPr/>
        </p:nvSpPr>
        <p:spPr>
          <a:xfrm>
            <a:off x="603504" y="3904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Leaders wait for manually compiled reports.</a:t>
            </a:r>
            <a:endParaRPr lang="en-US" sz="800" dirty="0"/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21608"/>
            <a:ext cx="182880" cy="182880"/>
          </a:xfrm>
          <a:prstGeom prst="rect">
            <a:avLst/>
          </a:prstGeom>
        </p:spPr>
      </p:pic>
      <p:sp>
        <p:nvSpPr>
          <p:cNvPr id="72" name="Text 50"/>
          <p:cNvSpPr/>
          <p:nvPr/>
        </p:nvSpPr>
        <p:spPr>
          <a:xfrm>
            <a:off x="5138928" y="3694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Decisions compressed to seconds</a:t>
            </a:r>
            <a:endParaRPr lang="en-US" sz="950" dirty="0"/>
          </a:p>
        </p:txBody>
      </p:sp>
      <p:sp>
        <p:nvSpPr>
          <p:cNvPr id="73" name="Text 51"/>
          <p:cNvSpPr/>
          <p:nvPr/>
        </p:nvSpPr>
        <p:spPr>
          <a:xfrm>
            <a:off x="5138928" y="3904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Cemex: 120+ KPIs, days → seconds with LUCA Bot.</a:t>
            </a:r>
            <a:endParaRPr lang="en-US" sz="800" dirty="0"/>
          </a:p>
        </p:txBody>
      </p:sp>
      <p:sp>
        <p:nvSpPr>
          <p:cNvPr id="74" name="Shape 52"/>
          <p:cNvSpPr/>
          <p:nvPr/>
        </p:nvSpPr>
        <p:spPr>
          <a:xfrm>
            <a:off x="320040" y="4114800"/>
            <a:ext cx="3977640" cy="0"/>
          </a:xfrm>
          <a:prstGeom prst="line">
            <a:avLst/>
          </a:prstGeom>
          <a:noFill/>
          <a:ln w="508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Shape 53"/>
          <p:cNvSpPr/>
          <p:nvPr/>
        </p:nvSpPr>
        <p:spPr>
          <a:xfrm>
            <a:off x="4846320" y="4114800"/>
            <a:ext cx="3977640" cy="0"/>
          </a:xfrm>
          <a:prstGeom prst="line">
            <a:avLst/>
          </a:prstGeom>
          <a:noFill/>
          <a:ln w="5080">
            <a:solidFill>
              <a:srgbClr val="0A3B1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7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15384"/>
            <a:ext cx="182880" cy="182880"/>
          </a:xfrm>
          <a:prstGeom prst="rect">
            <a:avLst/>
          </a:prstGeom>
        </p:spPr>
      </p:pic>
      <p:sp>
        <p:nvSpPr>
          <p:cNvPr id="78" name="Text 54"/>
          <p:cNvSpPr/>
          <p:nvPr/>
        </p:nvSpPr>
        <p:spPr>
          <a:xfrm>
            <a:off x="603504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5A5"/>
                </a:solidFill>
              </a:rPr>
              <a:t>High headcount for repetitive queries</a:t>
            </a:r>
            <a:endParaRPr lang="en-US" sz="950" dirty="0"/>
          </a:p>
        </p:txBody>
      </p:sp>
      <p:sp>
        <p:nvSpPr>
          <p:cNvPr id="79" name="Text 55"/>
          <p:cNvSpPr/>
          <p:nvPr/>
        </p:nvSpPr>
        <p:spPr>
          <a:xfrm>
            <a:off x="603504" y="4398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Staff overwhelmed; costs scale with volume.</a:t>
            </a:r>
            <a:endParaRPr lang="en-US" sz="800" dirty="0"/>
          </a:p>
        </p:txBody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15384"/>
            <a:ext cx="182880" cy="182880"/>
          </a:xfrm>
          <a:prstGeom prst="rect">
            <a:avLst/>
          </a:prstGeom>
        </p:spPr>
      </p:pic>
      <p:sp>
        <p:nvSpPr>
          <p:cNvPr id="81" name="Text 56"/>
          <p:cNvSpPr/>
          <p:nvPr/>
        </p:nvSpPr>
        <p:spPr>
          <a:xfrm>
            <a:off x="5138928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</a:rPr>
              <a:t>Agents handle queries at scale</a:t>
            </a:r>
            <a:endParaRPr lang="en-US" sz="950" dirty="0"/>
          </a:p>
        </p:txBody>
      </p:sp>
      <p:sp>
        <p:nvSpPr>
          <p:cNvPr id="82" name="Text 57"/>
          <p:cNvSpPr/>
          <p:nvPr/>
        </p:nvSpPr>
        <p:spPr>
          <a:xfrm>
            <a:off x="5138928" y="4398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Air India: 40k queries/day, 97% resolved, millions saved.</a:t>
            </a:r>
            <a:endParaRPr lang="en-US" sz="800" dirty="0"/>
          </a:p>
        </p:txBody>
      </p:sp>
      <p:sp>
        <p:nvSpPr>
          <p:cNvPr id="83" name="Shape 58"/>
          <p:cNvSpPr/>
          <p:nvPr/>
        </p:nvSpPr>
        <p:spPr>
          <a:xfrm>
            <a:off x="4206240" y="2377440"/>
            <a:ext cx="438912" cy="438912"/>
          </a:xfrm>
          <a:prstGeom prst="ellipse">
            <a:avLst/>
          </a:prstGeom>
          <a:solidFill>
            <a:srgbClr val="1E293B"/>
          </a:solidFill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4" name="Text 59"/>
          <p:cNvSpPr/>
          <p:nvPr/>
        </p:nvSpPr>
        <p:spPr>
          <a:xfrm>
            <a:off x="42062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85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6" name="Text 6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Source: Air India + Cemex case studies via Microsoft Foundry   |   PwC: 8 in 10 enterprises now use agent-based AI   |   Cemex: decision cycles days → seconds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Bring AI Agents into Power Apps?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926080" cy="3383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078D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8016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Tasks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+ AI =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value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1051560"/>
            <a:ext cx="525780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2161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3088" y="1106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Case Routing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33088" y="1399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reads case, assigns priority &amp; team automatically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520440" y="1874520"/>
            <a:ext cx="525780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0391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33088" y="1929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Form Assistants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133088" y="2221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through complex forms with contextual AI help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520440" y="2697480"/>
            <a:ext cx="525780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86207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33088" y="27523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Summarisation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133088" y="3044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contracts, reports, emails inside your app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520440" y="3520440"/>
            <a:ext cx="5257800" cy="713232"/>
          </a:xfrm>
          <a:prstGeom prst="rect">
            <a:avLst/>
          </a:prstGeom>
          <a:solidFill>
            <a:srgbClr val="0F2040"/>
          </a:solidFill>
          <a:ln w="12700">
            <a:solidFill>
              <a:srgbClr val="00B4D8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68503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33088" y="3575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Science Team Needed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133088" y="3867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enterprise AI with makers, not ML engineers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D281F89-9AA5-D1EE-C559-7AF2A9E6C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27447"/>
            <a:ext cx="9144000" cy="433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using Foundry Agents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078D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1737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1645920"/>
            <a:ext cx="3337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Azure AD / Managed Identity. No API keys in production. Register an Entra App Registration for OAuth 2.0 flow.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420624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4800600" y="1051560"/>
            <a:ext cx="73152" cy="1737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Governance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50408" y="1645920"/>
            <a:ext cx="3337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 Connectors in your tenant. HTTP connector is blockable under DLP. Audit your policy before committing to a pattern.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971800"/>
            <a:ext cx="420624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C7243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73152" cy="1737360"/>
          </a:xfrm>
          <a:prstGeom prst="rect">
            <a:avLst/>
          </a:prstGeom>
          <a:solidFill>
            <a:srgbClr val="C7243A"/>
          </a:solidFill>
          <a:ln w="12700">
            <a:solidFill>
              <a:srgbClr val="C7243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747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115568" y="3566160"/>
            <a:ext cx="3337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Power Apps license required per user. Copilot Studio = message-based licensing. AI Foundry metered separately in Azure.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00600" y="2971800"/>
            <a:ext cx="420624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07C1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17"/>
          <p:cNvSpPr/>
          <p:nvPr/>
        </p:nvSpPr>
        <p:spPr>
          <a:xfrm>
            <a:off x="4800600" y="2971800"/>
            <a:ext cx="73152" cy="17373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4747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Monitoring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50408" y="3566160"/>
            <a:ext cx="3337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AI calls via APIM or Dataverse audit table. Track consumption per app, user or department. Essential for enterprise rollout.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6DCFE73-5D04-ADAB-8D24-19C1A6C0C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" y="4812520"/>
            <a:ext cx="9034272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PageNum"/>
          <p:cNvSpPr/>
          <p:nvPr/>
        </p:nvSpPr>
        <p:spPr>
          <a:xfrm>
            <a:off x="8046720" y="182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B0C4D8"/>
                </a:solidFill>
                <a:latin typeface="Calibri"/>
              </a:rPr>
              <a:t>06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</a:rPr>
              <a:t>Foundry Integration Patterns</a:t>
            </a:r>
          </a:p>
        </p:txBody>
      </p:sp>
      <p:sp>
        <p:nvSpPr>
          <p:cNvPr id="5" name="Underline"/>
          <p:cNvSpPr/>
          <p:nvPr/>
        </p:nvSpPr>
        <p:spPr>
          <a:xfrm>
            <a:off x="365760" y="86868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ubtitle"/>
          <p:cNvSpPr/>
          <p:nvPr/>
        </p:nvSpPr>
        <p:spPr>
          <a:xfrm>
            <a:off x="365760" y="950000"/>
            <a:ext cx="82296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0C4D8"/>
                </a:solidFill>
                <a:latin typeface="Calibri"/>
              </a:rPr>
              <a:t>Foundry supports multiple integration patterns</a:t>
            </a:r>
          </a:p>
        </p:txBody>
      </p:sp>
      <p:sp>
        <p:nvSpPr>
          <p:cNvPr id="10" name="Card1Bg"/>
          <p:cNvSpPr/>
          <p:nvPr/>
        </p:nvSpPr>
        <p:spPr>
          <a:xfrm>
            <a:off x="365760" y="1380000"/>
            <a:ext cx="8412480" cy="1050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78D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Bar"/>
          <p:cNvSpPr/>
          <p:nvPr/>
        </p:nvSpPr>
        <p:spPr>
          <a:xfrm>
            <a:off x="365760" y="1380000"/>
            <a:ext cx="73152" cy="1050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Title"/>
          <p:cNvSpPr/>
          <p:nvPr/>
        </p:nvSpPr>
        <p:spPr>
          <a:xfrm>
            <a:off x="600000" y="1450000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Low-Code SaaS Connectors</a:t>
            </a:r>
          </a:p>
        </p:txBody>
      </p:sp>
      <p:sp>
        <p:nvSpPr>
          <p:cNvPr id="13" name="Card1Body"/>
          <p:cNvSpPr/>
          <p:nvPr/>
        </p:nvSpPr>
        <p:spPr>
          <a:xfrm>
            <a:off x="600000" y="1800000"/>
            <a:ext cx="80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0C4D8"/>
                </a:solidFill>
                <a:latin typeface="Calibri"/>
              </a:rPr>
              <a:t>Pre-built connectors for SaaS platforms like Power Platform enable rapid, low-code integration with minimal engineering effort.</a:t>
            </a:r>
          </a:p>
        </p:txBody>
      </p:sp>
      <p:sp>
        <p:nvSpPr>
          <p:cNvPr id="20" name="Card2Bg"/>
          <p:cNvSpPr/>
          <p:nvPr/>
        </p:nvSpPr>
        <p:spPr>
          <a:xfrm>
            <a:off x="365760" y="2540000"/>
            <a:ext cx="8412480" cy="105000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Bar"/>
          <p:cNvSpPr/>
          <p:nvPr/>
        </p:nvSpPr>
        <p:spPr>
          <a:xfrm>
            <a:off x="365760" y="2540000"/>
            <a:ext cx="73152" cy="10500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Title"/>
          <p:cNvSpPr/>
          <p:nvPr/>
        </p:nvSpPr>
        <p:spPr>
          <a:xfrm>
            <a:off x="600000" y="2610000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Direct REST API Integration</a:t>
            </a:r>
          </a:p>
        </p:txBody>
      </p:sp>
      <p:sp>
        <p:nvSpPr>
          <p:cNvPr id="23" name="Card2Body"/>
          <p:cNvSpPr/>
          <p:nvPr/>
        </p:nvSpPr>
        <p:spPr>
          <a:xfrm>
            <a:off x="600000" y="2960000"/>
            <a:ext cx="80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0C4D8"/>
                </a:solidFill>
                <a:latin typeface="Calibri"/>
              </a:rPr>
              <a:t>Native REST endpoints offer full control for custom application code, fine-grained authentication, and bespoke orchestration flows.</a:t>
            </a:r>
          </a:p>
        </p:txBody>
      </p:sp>
      <p:sp>
        <p:nvSpPr>
          <p:cNvPr id="30" name="Card3Bg"/>
          <p:cNvSpPr/>
          <p:nvPr/>
        </p:nvSpPr>
        <p:spPr>
          <a:xfrm>
            <a:off x="365760" y="3700000"/>
            <a:ext cx="8412480" cy="1050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7C1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Bar"/>
          <p:cNvSpPr/>
          <p:nvPr/>
        </p:nvSpPr>
        <p:spPr>
          <a:xfrm>
            <a:off x="365760" y="3700000"/>
            <a:ext cx="73152" cy="10500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3Title"/>
          <p:cNvSpPr/>
          <p:nvPr/>
        </p:nvSpPr>
        <p:spPr>
          <a:xfrm>
            <a:off x="600000" y="3770000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API Gateway Mediation</a:t>
            </a:r>
          </a:p>
        </p:txBody>
      </p:sp>
      <p:sp>
        <p:nvSpPr>
          <p:cNvPr id="33" name="Card3Body"/>
          <p:cNvSpPr/>
          <p:nvPr/>
        </p:nvSpPr>
        <p:spPr>
          <a:xfrm>
            <a:off x="600000" y="4120000"/>
            <a:ext cx="80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0C4D8"/>
                </a:solidFill>
                <a:latin typeface="Calibri"/>
              </a:rPr>
              <a:t>Centralized API gateways (such as APIM) enforce policies, throttling, observability, and consistent governance across consumers.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248CDB-A895-95D8-46C5-80883668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817097"/>
            <a:ext cx="9034272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320040" y="128016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ARCHITECT 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RAG via Embedding Models — What Power Platform Can &amp; Cannot 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02336"/>
          </a:xfrm>
          <a:prstGeom prst="rect">
            <a:avLst/>
          </a:prstGeom>
          <a:solidFill>
            <a:srgbClr val="0F2942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Verdict: </a:t>
            </a:r>
            <a:r>
              <a:rPr lang="en-US" sz="1000" dirty="0">
                <a:solidFill>
                  <a:srgbClr val="FFFFFF"/>
                </a:solidFill>
              </a:rPr>
              <a:t>Query-time RAG is fully achievable in Power Platform.  </a:t>
            </a:r>
            <a:r>
              <a:rPr lang="en-US" sz="1000" dirty="0">
                <a:solidFill>
                  <a:srgbClr val="94A3B8"/>
                </a:solidFill>
              </a:rPr>
              <a:t>Index-build for large datasets or documents requires Azure services.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0B981"/>
                </a:solidFill>
              </a:rPr>
              <a:t>WHAT WORKS IN POWER PLATFORM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114800" cy="713232"/>
          </a:xfrm>
          <a:prstGeom prst="rect">
            <a:avLst/>
          </a:prstGeom>
          <a:solidFill>
            <a:srgbClr val="0D2B1A"/>
          </a:solidFill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184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1581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Query-time embedding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1837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Call text-embedding-3-large via custom connector on user query. Fully low-code in Power Automate.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4320" y="2304288"/>
            <a:ext cx="4114800" cy="713232"/>
          </a:xfrm>
          <a:prstGeom prst="rect">
            <a:avLst/>
          </a:prstGeom>
          <a:solidFill>
            <a:srgbClr val="0D2B1A"/>
          </a:solidFill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2"/>
          <p:cNvSpPr/>
          <p:nvPr/>
        </p:nvSpPr>
        <p:spPr>
          <a:xfrm>
            <a:off x="274320" y="2304288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1401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" y="23774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Vector retrieval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13232" y="2633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HTTP connector calls Azure AI Search with the vector. Returns top-K chunks. No code needed.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74320" y="3099816"/>
            <a:ext cx="4114800" cy="713232"/>
          </a:xfrm>
          <a:prstGeom prst="rect">
            <a:avLst/>
          </a:prstGeom>
          <a:solidFill>
            <a:srgbClr val="0D2B1A"/>
          </a:solidFill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6"/>
          <p:cNvSpPr/>
          <p:nvPr/>
        </p:nvSpPr>
        <p:spPr>
          <a:xfrm>
            <a:off x="274320" y="3099816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9544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3232" y="3172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augmentation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13232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Compose action assembles chunks + user query. Pass to GPT-5.4. Native Power Automate step.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74320" y="3895344"/>
            <a:ext cx="4114800" cy="713232"/>
          </a:xfrm>
          <a:prstGeom prst="rect">
            <a:avLst/>
          </a:prstGeom>
          <a:solidFill>
            <a:srgbClr val="0D2B1A"/>
          </a:solidFill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0"/>
          <p:cNvSpPr/>
          <p:nvPr/>
        </p:nvSpPr>
        <p:spPr>
          <a:xfrm>
            <a:off x="274320" y="3895344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0507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" y="3968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Small dataset index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3232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Under 5,000 records: loop + embed + push to AI Search. Feasible via scheduled flow off-peak.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663440" y="12618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F4444"/>
                </a:solidFill>
              </a:rPr>
              <a:t>LIMITATIONS &amp; GAPS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4663440" y="1508760"/>
            <a:ext cx="4206240" cy="713232"/>
          </a:xfrm>
          <a:prstGeom prst="rect">
            <a:avLst/>
          </a:prstGeom>
          <a:solidFill>
            <a:srgbClr val="3B0A0A"/>
          </a:solidFill>
          <a:ln w="635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5"/>
          <p:cNvSpPr/>
          <p:nvPr/>
        </p:nvSpPr>
        <p:spPr>
          <a:xfrm>
            <a:off x="4663440" y="1508760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61848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20640" y="1581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vector store in Dataverse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120640" y="1837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 float array column type. Azure AI Search or Cosmos DB required — outside Power Platform.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4663440" y="2304288"/>
            <a:ext cx="4206240" cy="713232"/>
          </a:xfrm>
          <a:prstGeom prst="rect">
            <a:avLst/>
          </a:prstGeom>
          <a:solidFill>
            <a:srgbClr val="3B0A0A"/>
          </a:solidFill>
          <a:ln w="635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Shape 29"/>
          <p:cNvSpPr/>
          <p:nvPr/>
        </p:nvSpPr>
        <p:spPr>
          <a:xfrm>
            <a:off x="4663440" y="2304288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41401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120640" y="2377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chunking primitive in flows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12064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Splitting documents into 512-token chunks needs code. Requires an Azure Function — not low-code.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4663440" y="3099816"/>
            <a:ext cx="4206240" cy="713232"/>
          </a:xfrm>
          <a:prstGeom prst="rect">
            <a:avLst/>
          </a:prstGeom>
          <a:solidFill>
            <a:srgbClr val="2D1A00"/>
          </a:solidFill>
          <a:ln w="635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3"/>
          <p:cNvSpPr/>
          <p:nvPr/>
        </p:nvSpPr>
        <p:spPr>
          <a:xfrm>
            <a:off x="4663440" y="3099816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209544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120640" y="3172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indexing hits flow limits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5120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50k+ records one-by-one in a loop hits PP action limits and API throttling. Use ADF instead.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4663440" y="3895344"/>
            <a:ext cx="4206240" cy="713232"/>
          </a:xfrm>
          <a:prstGeom prst="rect">
            <a:avLst/>
          </a:prstGeom>
          <a:solidFill>
            <a:srgbClr val="2D1A00"/>
          </a:solidFill>
          <a:ln w="635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Shape 37"/>
          <p:cNvSpPr/>
          <p:nvPr/>
        </p:nvSpPr>
        <p:spPr>
          <a:xfrm>
            <a:off x="4663440" y="389534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005072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120640" y="3968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native PDF/doc extraction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5120640" y="4224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Document Intelligence (Foundry) works but PP can't chunk extracted text. Azure Function needed.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4544568" y="1261872"/>
            <a:ext cx="0" cy="370332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51" name="Shape 41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837176"/>
            <a:ext cx="182880" cy="18288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371600" y="4828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0A5FA"/>
                </a:solidFill>
              </a:rPr>
              <a:t>Azure Function  </a:t>
            </a:r>
            <a:r>
              <a:rPr lang="en-US" sz="850" dirty="0">
                <a:solidFill>
                  <a:srgbClr val="94A3B8"/>
                </a:solidFill>
              </a:rPr>
              <a:t>Chunking + bulk embedding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3584448" y="4933188"/>
            <a:ext cx="201168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4837176"/>
            <a:ext cx="182880" cy="1828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023360" y="4828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0A5FA"/>
                </a:solidFill>
              </a:rPr>
              <a:t>Azure AI Search  </a:t>
            </a:r>
            <a:r>
              <a:rPr lang="en-US" sz="850" dirty="0">
                <a:solidFill>
                  <a:srgbClr val="94A3B8"/>
                </a:solidFill>
              </a:rPr>
              <a:t>Vector store + retrieval</a:t>
            </a:r>
            <a:endParaRPr lang="en-US" sz="850" dirty="0"/>
          </a:p>
        </p:txBody>
      </p:sp>
      <p:sp>
        <p:nvSpPr>
          <p:cNvPr id="57" name="Shape 45"/>
          <p:cNvSpPr/>
          <p:nvPr/>
        </p:nvSpPr>
        <p:spPr>
          <a:xfrm>
            <a:off x="6236208" y="4933188"/>
            <a:ext cx="201168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837176"/>
            <a:ext cx="182880" cy="18288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675120" y="4828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0A5FA"/>
                </a:solidFill>
              </a:rPr>
              <a:t>Power Platform  </a:t>
            </a:r>
            <a:r>
              <a:rPr lang="en-US" sz="850" dirty="0">
                <a:solidFill>
                  <a:srgbClr val="94A3B8"/>
                </a:solidFill>
              </a:rPr>
              <a:t>Query layer + UX only</a:t>
            </a:r>
            <a:endParaRPr lang="en-US" sz="850" dirty="0"/>
          </a:p>
        </p:txBody>
      </p:sp>
      <p:sp>
        <p:nvSpPr>
          <p:cNvPr id="60" name="Text 47"/>
          <p:cNvSpPr/>
          <p:nvPr/>
        </p:nvSpPr>
        <p:spPr>
          <a:xfrm>
            <a:off x="274320" y="5056632"/>
            <a:ext cx="85953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</a:rPr>
              <a:t>Recommended enterprise pattern: Azure handles index build  |  Power Platform handles query, retrieval, augmentation &amp; UX</a:t>
            </a:r>
            <a:endParaRPr lang="en-US" sz="650" dirty="0"/>
          </a:p>
        </p:txBody>
      </p:sp>
      <p:sp>
        <p:nvSpPr>
          <p:cNvPr id="61" name="Text 48"/>
          <p:cNvSpPr/>
          <p:nvPr/>
        </p:nvSpPr>
        <p:spPr>
          <a:xfrm>
            <a:off x="8778240" y="1280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320000" y="220000"/>
            <a:ext cx="8504000" cy="380000"/>
          </a:xfrm>
          <a:prstGeom prst="rect">
            <a:avLst/>
          </a:prstGeom>
          <a:noFill/>
        </p:spPr>
        <p:txBody>
          <a:bodyPr wrap="square" rtlCol="0" anchor="t">
            <a:normAutofit fontScale="77500" lnSpcReduction="20000"/>
          </a:bodyPr>
          <a:lstStyle/>
          <a:p>
            <a:pPr algn="l"/>
            <a:r>
              <a:rPr lang="en-US" sz="2800" b="1" dirty="0">
                <a:solidFill>
                  <a:srgbClr val="1E2761"/>
                </a:solidFill>
                <a:latin typeface="Calibri"/>
              </a:rPr>
              <a:t>Integrating Azure AI Foundry Models to Power Platform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320000" y="600000"/>
            <a:ext cx="8504000" cy="2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1200" i="1" dirty="0">
                <a:solidFill>
                  <a:srgbClr val="5A6378"/>
                </a:solidFill>
                <a:latin typeface="Calibri"/>
              </a:rPr>
              <a:t>Eleven patterns for connecting Foundry models, prompts, and RAG into Power Apps and beyond</a:t>
            </a:r>
          </a:p>
        </p:txBody>
      </p:sp>
      <p:sp>
        <p:nvSpPr>
          <p:cNvPr id="12" name="Card1"/>
          <p:cNvSpPr/>
          <p:nvPr/>
        </p:nvSpPr>
        <p:spPr>
          <a:xfrm>
            <a:off x="320000" y="880000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13" name="Badge1"/>
          <p:cNvSpPr/>
          <p:nvPr/>
        </p:nvSpPr>
        <p:spPr>
          <a:xfrm>
            <a:off x="470000" y="1020000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1"/>
          <p:cNvSpPr txBox="1"/>
          <p:nvPr/>
        </p:nvSpPr>
        <p:spPr>
          <a:xfrm>
            <a:off x="930000" y="1010000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Custom Connector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Connect Foundry models through Power Platform custom connectors.</a:t>
            </a:r>
          </a:p>
        </p:txBody>
      </p:sp>
      <p:sp>
        <p:nvSpPr>
          <p:cNvPr id="15" name="Card2"/>
          <p:cNvSpPr/>
          <p:nvPr/>
        </p:nvSpPr>
        <p:spPr>
          <a:xfrm>
            <a:off x="2473500" y="880000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16" name="Badge2"/>
          <p:cNvSpPr/>
          <p:nvPr/>
        </p:nvSpPr>
        <p:spPr>
          <a:xfrm>
            <a:off x="2623500" y="1020000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2"/>
          <p:cNvSpPr txBox="1"/>
          <p:nvPr/>
        </p:nvSpPr>
        <p:spPr>
          <a:xfrm>
            <a:off x="3083500" y="1010000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Azure AI Foundry Prompts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Reuse prompt assets defined directly inside Azure AI Foundry.</a:t>
            </a:r>
          </a:p>
        </p:txBody>
      </p:sp>
      <p:sp>
        <p:nvSpPr>
          <p:cNvPr id="18" name="Card3"/>
          <p:cNvSpPr/>
          <p:nvPr/>
        </p:nvSpPr>
        <p:spPr>
          <a:xfrm>
            <a:off x="4627000" y="880000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19" name="Badge3"/>
          <p:cNvSpPr/>
          <p:nvPr/>
        </p:nvSpPr>
        <p:spPr>
          <a:xfrm>
            <a:off x="4777000" y="1020000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3"/>
          <p:cNvSpPr txBox="1"/>
          <p:nvPr/>
        </p:nvSpPr>
        <p:spPr>
          <a:xfrm>
            <a:off x="5237000" y="1010000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RAG Grounding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Ground responses in your own data using Foundry knowledge sources.</a:t>
            </a:r>
          </a:p>
        </p:txBody>
      </p:sp>
      <p:sp>
        <p:nvSpPr>
          <p:cNvPr id="21" name="Card4"/>
          <p:cNvSpPr/>
          <p:nvPr/>
        </p:nvSpPr>
        <p:spPr>
          <a:xfrm>
            <a:off x="6780500" y="880000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22" name="Badge4"/>
          <p:cNvSpPr/>
          <p:nvPr/>
        </p:nvSpPr>
        <p:spPr>
          <a:xfrm>
            <a:off x="6930500" y="1020000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4"/>
          <p:cNvSpPr txBox="1"/>
          <p:nvPr/>
        </p:nvSpPr>
        <p:spPr>
          <a:xfrm>
            <a:off x="7390500" y="1010000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Copilot Studio Agents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Build agents in Copilot Studio backed by Azure AI Foundry models.</a:t>
            </a:r>
          </a:p>
        </p:txBody>
      </p:sp>
      <p:sp>
        <p:nvSpPr>
          <p:cNvPr id="24" name="Card5"/>
          <p:cNvSpPr/>
          <p:nvPr/>
        </p:nvSpPr>
        <p:spPr>
          <a:xfrm>
            <a:off x="320000" y="2277833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25" name="Badge5"/>
          <p:cNvSpPr/>
          <p:nvPr/>
        </p:nvSpPr>
        <p:spPr>
          <a:xfrm>
            <a:off x="470000" y="2417833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5"/>
          <p:cNvSpPr txBox="1"/>
          <p:nvPr/>
        </p:nvSpPr>
        <p:spPr>
          <a:xfrm>
            <a:off x="930000" y="2407833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Power Automate Flows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Trigger Foundry models from flows for background automation on Dataverse events.</a:t>
            </a:r>
          </a:p>
        </p:txBody>
      </p:sp>
      <p:sp>
        <p:nvSpPr>
          <p:cNvPr id="27" name="Card6"/>
          <p:cNvSpPr/>
          <p:nvPr/>
        </p:nvSpPr>
        <p:spPr>
          <a:xfrm>
            <a:off x="2473500" y="2277833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28" name="Badge6"/>
          <p:cNvSpPr/>
          <p:nvPr/>
        </p:nvSpPr>
        <p:spPr>
          <a:xfrm>
            <a:off x="2623500" y="2417833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6"/>
          <p:cNvSpPr txBox="1"/>
          <p:nvPr/>
        </p:nvSpPr>
        <p:spPr>
          <a:xfrm>
            <a:off x="3083500" y="2407833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Canvas App Functions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Wrap Foundry inference in reusable Power Fx functions for citizen developers.</a:t>
            </a:r>
          </a:p>
        </p:txBody>
      </p:sp>
      <p:sp>
        <p:nvSpPr>
          <p:cNvPr id="30" name="Card7"/>
          <p:cNvSpPr/>
          <p:nvPr/>
        </p:nvSpPr>
        <p:spPr>
          <a:xfrm>
            <a:off x="4627000" y="2277833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31" name="Badge7"/>
          <p:cNvSpPr/>
          <p:nvPr/>
        </p:nvSpPr>
        <p:spPr>
          <a:xfrm>
            <a:off x="4777000" y="2417833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7"/>
          <p:cNvSpPr txBox="1"/>
          <p:nvPr/>
        </p:nvSpPr>
        <p:spPr>
          <a:xfrm>
            <a:off x="5237000" y="2407833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Dataverse Plugins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Call Foundry models from server-side plugins to enforce rules and enrich records.</a:t>
            </a:r>
          </a:p>
        </p:txBody>
      </p:sp>
      <p:sp>
        <p:nvSpPr>
          <p:cNvPr id="33" name="Card8"/>
          <p:cNvSpPr/>
          <p:nvPr/>
        </p:nvSpPr>
        <p:spPr>
          <a:xfrm>
            <a:off x="6780500" y="2277833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34" name="Badge8"/>
          <p:cNvSpPr/>
          <p:nvPr/>
        </p:nvSpPr>
        <p:spPr>
          <a:xfrm>
            <a:off x="6930500" y="2417833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Text8"/>
          <p:cNvSpPr txBox="1"/>
          <p:nvPr/>
        </p:nvSpPr>
        <p:spPr>
          <a:xfrm>
            <a:off x="7390500" y="2407833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API Management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Front Foundry endpoints with APIM for throttling, logging, and governance.</a:t>
            </a:r>
          </a:p>
        </p:txBody>
      </p:sp>
      <p:sp>
        <p:nvSpPr>
          <p:cNvPr id="36" name="Card9"/>
          <p:cNvSpPr/>
          <p:nvPr/>
        </p:nvSpPr>
        <p:spPr>
          <a:xfrm>
            <a:off x="320000" y="3675666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37" name="Badge9"/>
          <p:cNvSpPr/>
          <p:nvPr/>
        </p:nvSpPr>
        <p:spPr>
          <a:xfrm>
            <a:off x="470000" y="3815666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8" name="Text9"/>
          <p:cNvSpPr txBox="1"/>
          <p:nvPr/>
        </p:nvSpPr>
        <p:spPr>
          <a:xfrm>
            <a:off x="930000" y="3805666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Copilot Studio Bots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Use Foundry models as the intelligence layer for bots embedded in Power Apps.</a:t>
            </a:r>
          </a:p>
        </p:txBody>
      </p:sp>
      <p:sp>
        <p:nvSpPr>
          <p:cNvPr id="39" name="Card10"/>
          <p:cNvSpPr/>
          <p:nvPr/>
        </p:nvSpPr>
        <p:spPr>
          <a:xfrm>
            <a:off x="2473500" y="3675666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40" name="Badge10"/>
          <p:cNvSpPr/>
          <p:nvPr/>
        </p:nvSpPr>
        <p:spPr>
          <a:xfrm>
            <a:off x="2623500" y="3815666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1" name="Text10"/>
          <p:cNvSpPr txBox="1"/>
          <p:nvPr/>
        </p:nvSpPr>
        <p:spPr>
          <a:xfrm>
            <a:off x="3083500" y="3805666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Copilot Studio Extensions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Surface Foundry-powered agents inside Power Apps as native copilots.</a:t>
            </a:r>
          </a:p>
        </p:txBody>
      </p:sp>
      <p:sp>
        <p:nvSpPr>
          <p:cNvPr id="42" name="Card11"/>
          <p:cNvSpPr/>
          <p:nvPr/>
        </p:nvSpPr>
        <p:spPr>
          <a:xfrm>
            <a:off x="4627000" y="3675666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txBody>
          <a:bodyPr wrap="square" lIns="180000" tIns="140000" rIns="180000" bIns="140000" rtlCol="0" anchor="t"/>
          <a:lstStyle/>
          <a:p>
            <a:pPr algn="l"/>
            <a:endParaRPr lang="en-US" sz="100"/>
          </a:p>
        </p:txBody>
      </p:sp>
      <p:sp>
        <p:nvSpPr>
          <p:cNvPr id="43" name="Badge11"/>
          <p:cNvSpPr/>
          <p:nvPr/>
        </p:nvSpPr>
        <p:spPr>
          <a:xfrm>
            <a:off x="4777000" y="3815666"/>
            <a:ext cx="360000" cy="36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4" name="Text11"/>
          <p:cNvSpPr txBox="1"/>
          <p:nvPr/>
        </p:nvSpPr>
        <p:spPr>
          <a:xfrm>
            <a:off x="5237000" y="3805666"/>
            <a:ext cx="1283500" cy="10278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6213E"/>
                </a:solidFill>
                <a:latin typeface="Calibri"/>
              </a:rPr>
              <a:t>Fabric + Synapse Link</a:t>
            </a:r>
          </a:p>
          <a:p>
            <a:pPr algn="l">
              <a:spcBef>
                <a:spcPts val="300"/>
              </a:spcBef>
            </a:pPr>
            <a:r>
              <a:rPr lang="en-US" sz="900">
                <a:solidFill>
                  <a:srgbClr val="5A6378"/>
                </a:solidFill>
                <a:latin typeface="Calibri"/>
              </a:rPr>
              <a:t>Sync Dataverse to Fabric, enrich with Foundry, and return insights to dashboards.</a:t>
            </a:r>
          </a:p>
        </p:txBody>
      </p:sp>
      <p:sp>
        <p:nvSpPr>
          <p:cNvPr id="45" name="CalloutCard"/>
          <p:cNvSpPr/>
          <p:nvPr/>
        </p:nvSpPr>
        <p:spPr>
          <a:xfrm>
            <a:off x="6780500" y="3675666"/>
            <a:ext cx="2043500" cy="1287833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txBody>
          <a:bodyPr wrap="square" lIns="180000" tIns="140000" rIns="180000" bIns="140000" rtlCol="0" anchor="ctr"/>
          <a:lstStyle/>
          <a:p>
            <a:pPr algn="l"/>
            <a:r>
              <a:rPr lang="en-US" sz="1100" b="1">
                <a:solidFill>
                  <a:srgbClr val="CADCFC"/>
                </a:solidFill>
                <a:latin typeface="Calibri"/>
              </a:rPr>
              <a:t>11 paths,</a:t>
            </a:r>
          </a:p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</a:rPr>
              <a:t>one platform.</a:t>
            </a:r>
          </a:p>
          <a:p>
            <a:pPr algn="l">
              <a:spcBef>
                <a:spcPts val="400"/>
              </a:spcBef>
            </a:pPr>
            <a:r>
              <a:rPr lang="en-US" sz="800" i="1">
                <a:solidFill>
                  <a:srgbClr val="CADCFC"/>
                </a:solidFill>
                <a:latin typeface="Calibri"/>
              </a:rPr>
              <a:t>Pick the entry point that fits your workload.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B024FF-D7AA-C6C8-629A-E0CBB3D6A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8133"/>
            <a:ext cx="9144000" cy="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00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354A5-5A7B-503E-BF84-F67F30CE42EF}"/>
              </a:ext>
            </a:extLst>
          </p:cNvPr>
          <p:cNvSpPr txBox="1"/>
          <p:nvPr/>
        </p:nvSpPr>
        <p:spPr>
          <a:xfrm>
            <a:off x="3335383" y="1934128"/>
            <a:ext cx="664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dirty="0">
                <a:solidFill>
                  <a:srgbClr val="002060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2651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5334</TotalTime>
  <Words>1197</Words>
  <Application>Microsoft Office PowerPoint</Application>
  <PresentationFormat>On-screen Show (16:9)</PresentationFormat>
  <Paragraphs>170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Lufga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Bringing Azure AI Foundry Agents to Power Apps</dc:title>
  <dc:subject>PptxGenJS Presentation</dc:subject>
  <dc:creator>PptxGenJS</dc:creator>
  <cp:lastModifiedBy>Pavan Yaragani</cp:lastModifiedBy>
  <cp:revision>9</cp:revision>
  <dcterms:created xsi:type="dcterms:W3CDTF">2026-05-05T11:26:42Z</dcterms:created>
  <dcterms:modified xsi:type="dcterms:W3CDTF">2026-05-09T05:26:29Z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f9a5e3-c099-4fdc-96b9-08842cc36ff2_Enabled">
    <vt:lpwstr>true</vt:lpwstr>
  </property>
  <property fmtid="{D5CDD505-2E9C-101B-9397-08002B2CF9AE}" pid="3" name="MSIP_Label_45f9a5e3-c099-4fdc-96b9-08842cc36ff2_SetDate">
    <vt:lpwstr>2026-05-08T03:03:22Z</vt:lpwstr>
  </property>
  <property fmtid="{D5CDD505-2E9C-101B-9397-08002B2CF9AE}" pid="4" name="MSIP_Label_45f9a5e3-c099-4fdc-96b9-08842cc36ff2_Method">
    <vt:lpwstr>Privileged</vt:lpwstr>
  </property>
  <property fmtid="{D5CDD505-2E9C-101B-9397-08002B2CF9AE}" pid="5" name="MSIP_Label_45f9a5e3-c099-4fdc-96b9-08842cc36ff2_Name">
    <vt:lpwstr>Public</vt:lpwstr>
  </property>
  <property fmtid="{D5CDD505-2E9C-101B-9397-08002B2CF9AE}" pid="6" name="MSIP_Label_45f9a5e3-c099-4fdc-96b9-08842cc36ff2_SiteId">
    <vt:lpwstr>1b589bdd-af9b-40f9-af14-7df27f6b4206</vt:lpwstr>
  </property>
  <property fmtid="{D5CDD505-2E9C-101B-9397-08002B2CF9AE}" pid="7" name="MSIP_Label_45f9a5e3-c099-4fdc-96b9-08842cc36ff2_ActionId">
    <vt:lpwstr>eaf8583c-dcc1-4c87-8540-f8e75439dc85</vt:lpwstr>
  </property>
  <property fmtid="{D5CDD505-2E9C-101B-9397-08002B2CF9AE}" pid="8" name="MSIP_Label_45f9a5e3-c099-4fdc-96b9-08842cc36ff2_ContentBits">
    <vt:lpwstr>3</vt:lpwstr>
  </property>
  <property fmtid="{D5CDD505-2E9C-101B-9397-08002B2CF9AE}" pid="9" name="MSIP_Label_45f9a5e3-c099-4fdc-96b9-08842cc36ff2_Tag">
    <vt:lpwstr>10, 0, 1, 1</vt:lpwstr>
  </property>
  <property fmtid="{D5CDD505-2E9C-101B-9397-08002B2CF9AE}" pid="10" name="ClassificationContentMarkingFooterLocations">
    <vt:lpwstr>Office Theme:5</vt:lpwstr>
  </property>
  <property fmtid="{D5CDD505-2E9C-101B-9397-08002B2CF9AE}" pid="11" name="ClassificationContentMarkingFooterText">
    <vt:lpwstr>Public</vt:lpwstr>
  </property>
  <property fmtid="{D5CDD505-2E9C-101B-9397-08002B2CF9AE}" pid="12" name="ClassificationContentMarkingHeaderLocations">
    <vt:lpwstr>Office Theme:4</vt:lpwstr>
  </property>
  <property fmtid="{D5CDD505-2E9C-101B-9397-08002B2CF9AE}" pid="13" name="ClassificationContentMarkingHeaderText">
    <vt:lpwstr>This Email / Document has been classified as Public by Pavan Yaragani</vt:lpwstr>
  </property>
</Properties>
</file>